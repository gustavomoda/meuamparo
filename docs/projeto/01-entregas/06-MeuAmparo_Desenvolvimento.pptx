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1a622970-f70f-9a00-03ee-5d9029b13d0f}">
          <p14:sldIdLst>
            <p14:sldId id="256"/>
          </p14:sldIdLst>
        </p14:section>
        <p14:section name="Andamento" id="{dbbc0505-e9f6-bb9e-af64-bf53d45e18e0}">
          <p14:sldIdLst>
            <p14:sldId id="257"/>
          </p14:sldIdLst>
        </p14:section>
        <p14:section name="Arquitetura" id="{9e361fea-e86c-daf0-5862-cfb6545fa759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Código" id="{ade6da56-0fc3-4d69-108d-ce653a1bdb39}">
          <p14:sldIdLst>
            <p14:sldId id="264"/>
            <p14:sldId id="265"/>
            <p14:sldId id="266"/>
            <p14:sldId id="267"/>
            <p14:sldId id="268"/>
          </p14:sldIdLst>
        </p14:section>
        <p14:section name="Simulação e testes" id="{228c55fd-5c02-f8ec-9730-782c744c8d03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Grupo e próximos passos" id="{996dc738-1587-6e47-7837-cca3441e8eb7}">
          <p14:sldIdLst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A2E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F2A2E"/>
                </a:solidFill>
                <a:latin typeface="+mn-lt"/>
              </a:rPr>
              <a:t>Magnitude da aceleração numa queda (trace sintético)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|a| (g)</c:v>
                </c:pt>
              </c:strCache>
            </c:strRef>
          </c:tx>
          <c:spPr>
            <a:solidFill>
              <a:srgbClr val="02787F"/>
            </a:solidFill>
            <a:ln w="25400" cap="flat">
              <a:solidFill>
                <a:srgbClr val="02787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2787F"/>
              </a:solidFill>
              <a:ln w="9525" cap="flat">
                <a:solidFill>
                  <a:srgbClr val="02787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Sheet1!$A$2:$A$204</c:f>
              <c:multiLvlStrCache>
                <c:ptCount val="203"/>
                <c:lvl>
                  <c:pt idx="0">
                    <c:v>0.0</c:v>
                  </c:pt>
                  <c:pt idx="1">
                    <c:v>0.0</c:v>
                  </c:pt>
                  <c:pt idx="2">
                    <c:v>0.0</c:v>
                  </c:pt>
                  <c:pt idx="3">
                    <c:v>0.1</c:v>
                  </c:pt>
                  <c:pt idx="4">
                    <c:v>0.1</c:v>
                  </c:pt>
                  <c:pt idx="5">
                    <c:v>0.1</c:v>
                  </c:pt>
                  <c:pt idx="6">
                    <c:v>0.1</c:v>
                  </c:pt>
                  <c:pt idx="7">
                    <c:v>0.1</c:v>
                  </c:pt>
                  <c:pt idx="8">
                    <c:v>0.2</c:v>
                  </c:pt>
                  <c:pt idx="9">
                    <c:v>0.2</c:v>
                  </c:pt>
                  <c:pt idx="10">
                    <c:v>0.2</c:v>
                  </c:pt>
                  <c:pt idx="11">
                    <c:v>0.2</c:v>
                  </c:pt>
                  <c:pt idx="12">
                    <c:v>0.2</c:v>
                  </c:pt>
                  <c:pt idx="13">
                    <c:v>0.3</c:v>
                  </c:pt>
                  <c:pt idx="14">
                    <c:v>0.3</c:v>
                  </c:pt>
                  <c:pt idx="15">
                    <c:v>0.3</c:v>
                  </c:pt>
                  <c:pt idx="16">
                    <c:v>0.3</c:v>
                  </c:pt>
                  <c:pt idx="17">
                    <c:v>0.3</c:v>
                  </c:pt>
                  <c:pt idx="18">
                    <c:v>0.4</c:v>
                  </c:pt>
                  <c:pt idx="19">
                    <c:v>0.4</c:v>
                  </c:pt>
                  <c:pt idx="20">
                    <c:v>0.4</c:v>
                  </c:pt>
                  <c:pt idx="21">
                    <c:v>0.4</c:v>
                  </c:pt>
                  <c:pt idx="22">
                    <c:v>0.4</c:v>
                  </c:pt>
                  <c:pt idx="23">
                    <c:v>0.5</c:v>
                  </c:pt>
                  <c:pt idx="24">
                    <c:v>0.5</c:v>
                  </c:pt>
                  <c:pt idx="25">
                    <c:v>0.5</c:v>
                  </c:pt>
                  <c:pt idx="26">
                    <c:v>0.5</c:v>
                  </c:pt>
                  <c:pt idx="27">
                    <c:v>0.5</c:v>
                  </c:pt>
                  <c:pt idx="28">
                    <c:v>0.6</c:v>
                  </c:pt>
                  <c:pt idx="29">
                    <c:v>0.6</c:v>
                  </c:pt>
                  <c:pt idx="30">
                    <c:v>0.6</c:v>
                  </c:pt>
                  <c:pt idx="31">
                    <c:v>0.6</c:v>
                  </c:pt>
                  <c:pt idx="32">
                    <c:v>0.6</c:v>
                  </c:pt>
                  <c:pt idx="33">
                    <c:v>0.7</c:v>
                  </c:pt>
                  <c:pt idx="34">
                    <c:v>0.7</c:v>
                  </c:pt>
                  <c:pt idx="35">
                    <c:v>0.7</c:v>
                  </c:pt>
                  <c:pt idx="36">
                    <c:v>0.7</c:v>
                  </c:pt>
                  <c:pt idx="37">
                    <c:v>0.7</c:v>
                  </c:pt>
                  <c:pt idx="38">
                    <c:v>0.8</c:v>
                  </c:pt>
                  <c:pt idx="39">
                    <c:v>0.8</c:v>
                  </c:pt>
                  <c:pt idx="40">
                    <c:v>0.8</c:v>
                  </c:pt>
                  <c:pt idx="41">
                    <c:v>0.8</c:v>
                  </c:pt>
                  <c:pt idx="42">
                    <c:v>0.8</c:v>
                  </c:pt>
                  <c:pt idx="43">
                    <c:v>0.9</c:v>
                  </c:pt>
                  <c:pt idx="44">
                    <c:v>0.9</c:v>
                  </c:pt>
                  <c:pt idx="45">
                    <c:v>0.9</c:v>
                  </c:pt>
                  <c:pt idx="46">
                    <c:v>0.9</c:v>
                  </c:pt>
                  <c:pt idx="47">
                    <c:v>0.9</c:v>
                  </c:pt>
                  <c:pt idx="48">
                    <c:v>1.0</c:v>
                  </c:pt>
                  <c:pt idx="49">
                    <c:v>1.0</c:v>
                  </c:pt>
                  <c:pt idx="50">
                    <c:v>1.0</c:v>
                  </c:pt>
                  <c:pt idx="51">
                    <c:v>1.0</c:v>
                  </c:pt>
                  <c:pt idx="52">
                    <c:v>1.0</c:v>
                  </c:pt>
                  <c:pt idx="53">
                    <c:v>1.1</c:v>
                  </c:pt>
                  <c:pt idx="54">
                    <c:v>1.1</c:v>
                  </c:pt>
                  <c:pt idx="55">
                    <c:v>1.1</c:v>
                  </c:pt>
                  <c:pt idx="56">
                    <c:v>1.1</c:v>
                  </c:pt>
                  <c:pt idx="57">
                    <c:v>1.1</c:v>
                  </c:pt>
                  <c:pt idx="58">
                    <c:v>1.2</c:v>
                  </c:pt>
                  <c:pt idx="59">
                    <c:v>1.2</c:v>
                  </c:pt>
                  <c:pt idx="60">
                    <c:v>1.2</c:v>
                  </c:pt>
                  <c:pt idx="61">
                    <c:v>1.2</c:v>
                  </c:pt>
                  <c:pt idx="62">
                    <c:v>1.2</c:v>
                  </c:pt>
                  <c:pt idx="63">
                    <c:v>1.3</c:v>
                  </c:pt>
                  <c:pt idx="64">
                    <c:v>1.3</c:v>
                  </c:pt>
                  <c:pt idx="65">
                    <c:v>1.3</c:v>
                  </c:pt>
                  <c:pt idx="66">
                    <c:v>1.3</c:v>
                  </c:pt>
                  <c:pt idx="67">
                    <c:v>1.3</c:v>
                  </c:pt>
                  <c:pt idx="68">
                    <c:v>1.4</c:v>
                  </c:pt>
                  <c:pt idx="69">
                    <c:v>1.4</c:v>
                  </c:pt>
                  <c:pt idx="70">
                    <c:v>1.4</c:v>
                  </c:pt>
                  <c:pt idx="71">
                    <c:v>1.4</c:v>
                  </c:pt>
                  <c:pt idx="72">
                    <c:v>1.4</c:v>
                  </c:pt>
                  <c:pt idx="73">
                    <c:v>1.5</c:v>
                  </c:pt>
                  <c:pt idx="74">
                    <c:v>1.5</c:v>
                  </c:pt>
                  <c:pt idx="75">
                    <c:v>1.5</c:v>
                  </c:pt>
                  <c:pt idx="76">
                    <c:v>1.5</c:v>
                  </c:pt>
                  <c:pt idx="77">
                    <c:v>1.5</c:v>
                  </c:pt>
                  <c:pt idx="78">
                    <c:v>1.6</c:v>
                  </c:pt>
                  <c:pt idx="79">
                    <c:v>1.6</c:v>
                  </c:pt>
                  <c:pt idx="80">
                    <c:v>1.6</c:v>
                  </c:pt>
                  <c:pt idx="81">
                    <c:v>1.6</c:v>
                  </c:pt>
                  <c:pt idx="82">
                    <c:v>1.6</c:v>
                  </c:pt>
                  <c:pt idx="83">
                    <c:v>1.7</c:v>
                  </c:pt>
                  <c:pt idx="84">
                    <c:v>1.7</c:v>
                  </c:pt>
                  <c:pt idx="85">
                    <c:v>1.7</c:v>
                  </c:pt>
                  <c:pt idx="86">
                    <c:v>1.7</c:v>
                  </c:pt>
                  <c:pt idx="87">
                    <c:v>1.7</c:v>
                  </c:pt>
                  <c:pt idx="88">
                    <c:v>1.8</c:v>
                  </c:pt>
                  <c:pt idx="89">
                    <c:v>1.8</c:v>
                  </c:pt>
                  <c:pt idx="90">
                    <c:v>1.8</c:v>
                  </c:pt>
                  <c:pt idx="91">
                    <c:v>1.8</c:v>
                  </c:pt>
                  <c:pt idx="92">
                    <c:v>1.8</c:v>
                  </c:pt>
                  <c:pt idx="93">
                    <c:v>1.9</c:v>
                  </c:pt>
                  <c:pt idx="94">
                    <c:v>1.9</c:v>
                  </c:pt>
                  <c:pt idx="95">
                    <c:v>1.9</c:v>
                  </c:pt>
                  <c:pt idx="96">
                    <c:v>1.9</c:v>
                  </c:pt>
                  <c:pt idx="97">
                    <c:v>1.9</c:v>
                  </c:pt>
                  <c:pt idx="98">
                    <c:v>2.0</c:v>
                  </c:pt>
                  <c:pt idx="99">
                    <c:v>2.0</c:v>
                  </c:pt>
                  <c:pt idx="100">
                    <c:v>2.0</c:v>
                  </c:pt>
                  <c:pt idx="101">
                    <c:v>2.0</c:v>
                  </c:pt>
                  <c:pt idx="102">
                    <c:v>2.0</c:v>
                  </c:pt>
                  <c:pt idx="103">
                    <c:v>2.1</c:v>
                  </c:pt>
                  <c:pt idx="104">
                    <c:v>2.1</c:v>
                  </c:pt>
                  <c:pt idx="105">
                    <c:v>2.1</c:v>
                  </c:pt>
                  <c:pt idx="106">
                    <c:v>2.1</c:v>
                  </c:pt>
                  <c:pt idx="107">
                    <c:v>2.1</c:v>
                  </c:pt>
                  <c:pt idx="108">
                    <c:v>2.2</c:v>
                  </c:pt>
                  <c:pt idx="109">
                    <c:v>2.2</c:v>
                  </c:pt>
                  <c:pt idx="110">
                    <c:v>2.2</c:v>
                  </c:pt>
                  <c:pt idx="111">
                    <c:v>2.2</c:v>
                  </c:pt>
                  <c:pt idx="112">
                    <c:v>2.2</c:v>
                  </c:pt>
                  <c:pt idx="113">
                    <c:v>2.3</c:v>
                  </c:pt>
                  <c:pt idx="114">
                    <c:v>2.3</c:v>
                  </c:pt>
                  <c:pt idx="115">
                    <c:v>2.3</c:v>
                  </c:pt>
                  <c:pt idx="116">
                    <c:v>2.3</c:v>
                  </c:pt>
                  <c:pt idx="117">
                    <c:v>2.3</c:v>
                  </c:pt>
                  <c:pt idx="118">
                    <c:v>2.4</c:v>
                  </c:pt>
                  <c:pt idx="119">
                    <c:v>2.4</c:v>
                  </c:pt>
                  <c:pt idx="120">
                    <c:v>2.4</c:v>
                  </c:pt>
                  <c:pt idx="121">
                    <c:v>2.4</c:v>
                  </c:pt>
                  <c:pt idx="122">
                    <c:v>2.4</c:v>
                  </c:pt>
                  <c:pt idx="123">
                    <c:v>2.5</c:v>
                  </c:pt>
                  <c:pt idx="124">
                    <c:v>2.5</c:v>
                  </c:pt>
                  <c:pt idx="125">
                    <c:v>2.5</c:v>
                  </c:pt>
                  <c:pt idx="126">
                    <c:v>2.5</c:v>
                  </c:pt>
                  <c:pt idx="127">
                    <c:v>2.5</c:v>
                  </c:pt>
                  <c:pt idx="128">
                    <c:v>2.6</c:v>
                  </c:pt>
                  <c:pt idx="129">
                    <c:v>2.6</c:v>
                  </c:pt>
                  <c:pt idx="130">
                    <c:v>2.6</c:v>
                  </c:pt>
                  <c:pt idx="131">
                    <c:v>2.6</c:v>
                  </c:pt>
                  <c:pt idx="132">
                    <c:v>2.6</c:v>
                  </c:pt>
                  <c:pt idx="133">
                    <c:v>2.7</c:v>
                  </c:pt>
                  <c:pt idx="134">
                    <c:v>2.7</c:v>
                  </c:pt>
                  <c:pt idx="135">
                    <c:v>2.7</c:v>
                  </c:pt>
                  <c:pt idx="136">
                    <c:v>2.7</c:v>
                  </c:pt>
                  <c:pt idx="137">
                    <c:v>2.7</c:v>
                  </c:pt>
                  <c:pt idx="138">
                    <c:v>2.8</c:v>
                  </c:pt>
                  <c:pt idx="139">
                    <c:v>2.8</c:v>
                  </c:pt>
                  <c:pt idx="140">
                    <c:v>2.8</c:v>
                  </c:pt>
                  <c:pt idx="141">
                    <c:v>2.8</c:v>
                  </c:pt>
                  <c:pt idx="142">
                    <c:v>2.8</c:v>
                  </c:pt>
                  <c:pt idx="143">
                    <c:v>2.9</c:v>
                  </c:pt>
                  <c:pt idx="144">
                    <c:v>2.9</c:v>
                  </c:pt>
                  <c:pt idx="145">
                    <c:v>2.9</c:v>
                  </c:pt>
                  <c:pt idx="146">
                    <c:v>2.9</c:v>
                  </c:pt>
                  <c:pt idx="147">
                    <c:v>2.9</c:v>
                  </c:pt>
                  <c:pt idx="148">
                    <c:v>3.0</c:v>
                  </c:pt>
                  <c:pt idx="149">
                    <c:v>3.0</c:v>
                  </c:pt>
                  <c:pt idx="150">
                    <c:v>3.0</c:v>
                  </c:pt>
                  <c:pt idx="151">
                    <c:v>3.0</c:v>
                  </c:pt>
                  <c:pt idx="152">
                    <c:v>3.0</c:v>
                  </c:pt>
                  <c:pt idx="153">
                    <c:v>3.1</c:v>
                  </c:pt>
                  <c:pt idx="154">
                    <c:v>3.1</c:v>
                  </c:pt>
                  <c:pt idx="155">
                    <c:v>3.1</c:v>
                  </c:pt>
                  <c:pt idx="156">
                    <c:v>3.1</c:v>
                  </c:pt>
                  <c:pt idx="157">
                    <c:v>3.1</c:v>
                  </c:pt>
                  <c:pt idx="158">
                    <c:v>3.2</c:v>
                  </c:pt>
                  <c:pt idx="159">
                    <c:v>3.2</c:v>
                  </c:pt>
                  <c:pt idx="160">
                    <c:v>3.2</c:v>
                  </c:pt>
                  <c:pt idx="161">
                    <c:v>3.2</c:v>
                  </c:pt>
                  <c:pt idx="162">
                    <c:v>3.2</c:v>
                  </c:pt>
                  <c:pt idx="163">
                    <c:v>3.3</c:v>
                  </c:pt>
                  <c:pt idx="164">
                    <c:v>3.3</c:v>
                  </c:pt>
                  <c:pt idx="165">
                    <c:v>3.3</c:v>
                  </c:pt>
                  <c:pt idx="166">
                    <c:v>3.3</c:v>
                  </c:pt>
                  <c:pt idx="167">
                    <c:v>3.3</c:v>
                  </c:pt>
                  <c:pt idx="168">
                    <c:v>3.4</c:v>
                  </c:pt>
                  <c:pt idx="169">
                    <c:v>3.4</c:v>
                  </c:pt>
                  <c:pt idx="170">
                    <c:v>3.4</c:v>
                  </c:pt>
                  <c:pt idx="171">
                    <c:v>3.4</c:v>
                  </c:pt>
                  <c:pt idx="172">
                    <c:v>3.4</c:v>
                  </c:pt>
                  <c:pt idx="173">
                    <c:v>3.5</c:v>
                  </c:pt>
                  <c:pt idx="174">
                    <c:v>3.5</c:v>
                  </c:pt>
                  <c:pt idx="175">
                    <c:v>3.5</c:v>
                  </c:pt>
                  <c:pt idx="176">
                    <c:v>3.5</c:v>
                  </c:pt>
                  <c:pt idx="177">
                    <c:v>3.5</c:v>
                  </c:pt>
                  <c:pt idx="178">
                    <c:v>3.6</c:v>
                  </c:pt>
                  <c:pt idx="179">
                    <c:v>3.6</c:v>
                  </c:pt>
                  <c:pt idx="180">
                    <c:v>3.6</c:v>
                  </c:pt>
                  <c:pt idx="181">
                    <c:v>3.6</c:v>
                  </c:pt>
                  <c:pt idx="182">
                    <c:v>3.6</c:v>
                  </c:pt>
                  <c:pt idx="183">
                    <c:v>3.7</c:v>
                  </c:pt>
                  <c:pt idx="184">
                    <c:v>3.7</c:v>
                  </c:pt>
                  <c:pt idx="185">
                    <c:v>3.7</c:v>
                  </c:pt>
                  <c:pt idx="186">
                    <c:v>3.7</c:v>
                  </c:pt>
                  <c:pt idx="187">
                    <c:v>3.7</c:v>
                  </c:pt>
                  <c:pt idx="188">
                    <c:v>3.8</c:v>
                  </c:pt>
                  <c:pt idx="189">
                    <c:v>3.8</c:v>
                  </c:pt>
                  <c:pt idx="190">
                    <c:v>3.8</c:v>
                  </c:pt>
                  <c:pt idx="191">
                    <c:v>3.8</c:v>
                  </c:pt>
                  <c:pt idx="192">
                    <c:v>3.8</c:v>
                  </c:pt>
                  <c:pt idx="193">
                    <c:v>3.9</c:v>
                  </c:pt>
                  <c:pt idx="194">
                    <c:v>3.9</c:v>
                  </c:pt>
                  <c:pt idx="195">
                    <c:v>3.9</c:v>
                  </c:pt>
                  <c:pt idx="196">
                    <c:v>3.9</c:v>
                  </c:pt>
                  <c:pt idx="197">
                    <c:v>3.9</c:v>
                  </c:pt>
                  <c:pt idx="198">
                    <c:v>4.0</c:v>
                  </c:pt>
                  <c:pt idx="199">
                    <c:v>4.0</c:v>
                  </c:pt>
                  <c:pt idx="200">
                    <c:v>4.0</c:v>
                  </c:pt>
                  <c:pt idx="201">
                    <c:v>4.0</c:v>
                  </c:pt>
                  <c:pt idx="202">
                    <c:v>4.0</c:v>
                  </c:pt>
                </c:lvl>
              </c:multiLvlStrCache>
            </c:multiLvlStrRef>
          </c:cat>
          <c:val>
            <c:numRef>
              <c:f>Sheet1!$B$2:$B$204</c:f>
              <c:numCache>
                <c:formatCode>General</c:formatCode>
                <c:ptCount val="203"/>
                <c:pt idx="0">
                  <c:v>0.8</c:v>
                </c:pt>
                <c:pt idx="1">
                  <c:v>0.8333333333333335</c:v>
                </c:pt>
                <c:pt idx="2">
                  <c:v>0.8666666666666667</c:v>
                </c:pt>
                <c:pt idx="3">
                  <c:v>0.9000000000000001</c:v>
                </c:pt>
                <c:pt idx="4">
                  <c:v>0.9333333333333333</c:v>
                </c:pt>
                <c:pt idx="5">
                  <c:v>0.9666666666666668</c:v>
                </c:pt>
                <c:pt idx="6">
                  <c:v>1</c:v>
                </c:pt>
                <c:pt idx="7">
                  <c:v>1.0333333333333334</c:v>
                </c:pt>
                <c:pt idx="8">
                  <c:v>1.0666666666666667</c:v>
                </c:pt>
                <c:pt idx="9">
                  <c:v>1.1</c:v>
                </c:pt>
                <c:pt idx="10">
                  <c:v>1.1333333333333335</c:v>
                </c:pt>
                <c:pt idx="11">
                  <c:v>1.1666666666666667</c:v>
                </c:pt>
                <c:pt idx="12">
                  <c:v>1.2</c:v>
                </c:pt>
                <c:pt idx="13">
                  <c:v>1.1692307692307693</c:v>
                </c:pt>
                <c:pt idx="14">
                  <c:v>1.1384615384615386</c:v>
                </c:pt>
                <c:pt idx="15">
                  <c:v>1.1076923076923078</c:v>
                </c:pt>
                <c:pt idx="16">
                  <c:v>1.0769230769230769</c:v>
                </c:pt>
                <c:pt idx="17">
                  <c:v>1.0461538461538462</c:v>
                </c:pt>
                <c:pt idx="18">
                  <c:v>1.0153846153846156</c:v>
                </c:pt>
                <c:pt idx="19">
                  <c:v>0.9846153846153847</c:v>
                </c:pt>
                <c:pt idx="20">
                  <c:v>0.9538461538461538</c:v>
                </c:pt>
                <c:pt idx="21">
                  <c:v>0.9230769230769231</c:v>
                </c:pt>
                <c:pt idx="22">
                  <c:v>0.8923076923076925</c:v>
                </c:pt>
                <c:pt idx="23">
                  <c:v>0.8615384615384616</c:v>
                </c:pt>
                <c:pt idx="24">
                  <c:v>0.8307692307692307</c:v>
                </c:pt>
                <c:pt idx="25">
                  <c:v>0.8</c:v>
                </c:pt>
                <c:pt idx="26">
                  <c:v>0.8333333333333335</c:v>
                </c:pt>
                <c:pt idx="27">
                  <c:v>0.8666666666666667</c:v>
                </c:pt>
                <c:pt idx="28">
                  <c:v>0.9000000000000001</c:v>
                </c:pt>
                <c:pt idx="29">
                  <c:v>0.9333333333333333</c:v>
                </c:pt>
                <c:pt idx="30">
                  <c:v>0.9666666666666668</c:v>
                </c:pt>
                <c:pt idx="31">
                  <c:v>1</c:v>
                </c:pt>
                <c:pt idx="32">
                  <c:v>1.0333333333333334</c:v>
                </c:pt>
                <c:pt idx="33">
                  <c:v>1.0666666666666667</c:v>
                </c:pt>
                <c:pt idx="34">
                  <c:v>1.1</c:v>
                </c:pt>
                <c:pt idx="35">
                  <c:v>1.1333333333333335</c:v>
                </c:pt>
                <c:pt idx="36">
                  <c:v>1.1666666666666667</c:v>
                </c:pt>
                <c:pt idx="37">
                  <c:v>1.2</c:v>
                </c:pt>
                <c:pt idx="38">
                  <c:v>1.1692307692307693</c:v>
                </c:pt>
                <c:pt idx="39">
                  <c:v>1.1384615384615386</c:v>
                </c:pt>
                <c:pt idx="40">
                  <c:v>1.1076923076923078</c:v>
                </c:pt>
                <c:pt idx="41">
                  <c:v>1.0769230769230769</c:v>
                </c:pt>
                <c:pt idx="42">
                  <c:v>1.0461538461538462</c:v>
                </c:pt>
                <c:pt idx="43">
                  <c:v>1.0153846153846156</c:v>
                </c:pt>
                <c:pt idx="44">
                  <c:v>0.9846153846153847</c:v>
                </c:pt>
                <c:pt idx="45">
                  <c:v>0.9538461538461538</c:v>
                </c:pt>
                <c:pt idx="46">
                  <c:v>0.9230769230769231</c:v>
                </c:pt>
                <c:pt idx="47">
                  <c:v>0.8923076923076925</c:v>
                </c:pt>
                <c:pt idx="48">
                  <c:v>0.8615384615384616</c:v>
                </c:pt>
                <c:pt idx="49">
                  <c:v>0.8307692307692307</c:v>
                </c:pt>
                <c:pt idx="50">
                  <c:v>0.8</c:v>
                </c:pt>
                <c:pt idx="51">
                  <c:v>0.8333333333333335</c:v>
                </c:pt>
                <c:pt idx="52">
                  <c:v>0.8666666666666667</c:v>
                </c:pt>
                <c:pt idx="53">
                  <c:v>0.9000000000000001</c:v>
                </c:pt>
                <c:pt idx="54">
                  <c:v>0.9333333333333333</c:v>
                </c:pt>
                <c:pt idx="55">
                  <c:v>0.9666666666666668</c:v>
                </c:pt>
                <c:pt idx="56">
                  <c:v>1</c:v>
                </c:pt>
                <c:pt idx="57">
                  <c:v>1.0333333333333334</c:v>
                </c:pt>
                <c:pt idx="58">
                  <c:v>1.0666666666666667</c:v>
                </c:pt>
                <c:pt idx="59">
                  <c:v>1.1</c:v>
                </c:pt>
                <c:pt idx="60">
                  <c:v>1.1333333333333335</c:v>
                </c:pt>
                <c:pt idx="61">
                  <c:v>1.1666666666666667</c:v>
                </c:pt>
                <c:pt idx="62">
                  <c:v>1.2</c:v>
                </c:pt>
                <c:pt idx="63">
                  <c:v>1.1692307692307693</c:v>
                </c:pt>
                <c:pt idx="64">
                  <c:v>1.1384615384615386</c:v>
                </c:pt>
                <c:pt idx="65">
                  <c:v>1.1076923076923078</c:v>
                </c:pt>
                <c:pt idx="66">
                  <c:v>1.0769230769230769</c:v>
                </c:pt>
                <c:pt idx="67">
                  <c:v>1.0461538461538462</c:v>
                </c:pt>
                <c:pt idx="68">
                  <c:v>1.0153846153846156</c:v>
                </c:pt>
                <c:pt idx="69">
                  <c:v>0.9846153846153847</c:v>
                </c:pt>
                <c:pt idx="70">
                  <c:v>0.9538461538461538</c:v>
                </c:pt>
                <c:pt idx="71">
                  <c:v>0.9230769230769231</c:v>
                </c:pt>
                <c:pt idx="72">
                  <c:v>0.8923076923076925</c:v>
                </c:pt>
                <c:pt idx="73">
                  <c:v>0.8615384615384616</c:v>
                </c:pt>
                <c:pt idx="74">
                  <c:v>0.8307692307692307</c:v>
                </c:pt>
                <c:pt idx="75">
                  <c:v>0.2</c:v>
                </c:pt>
                <c:pt idx="76">
                  <c:v>0.2</c:v>
                </c:pt>
                <c:pt idx="77">
                  <c:v>0.2</c:v>
                </c:pt>
                <c:pt idx="78">
                  <c:v>0.2</c:v>
                </c:pt>
                <c:pt idx="79">
                  <c:v>0.2</c:v>
                </c:pt>
                <c:pt idx="80">
                  <c:v>0.2</c:v>
                </c:pt>
                <c:pt idx="81">
                  <c:v>0.2</c:v>
                </c:pt>
                <c:pt idx="82">
                  <c:v>0.2</c:v>
                </c:pt>
                <c:pt idx="83">
                  <c:v>0.2</c:v>
                </c:pt>
                <c:pt idx="84">
                  <c:v>0.2</c:v>
                </c:pt>
                <c:pt idx="85">
                  <c:v>0.2</c:v>
                </c:pt>
                <c:pt idx="86">
                  <c:v>0.2</c:v>
                </c:pt>
                <c:pt idx="87">
                  <c:v>0.2</c:v>
                </c:pt>
                <c:pt idx="88">
                  <c:v>0.2</c:v>
                </c:pt>
                <c:pt idx="89">
                  <c:v>0.2</c:v>
                </c:pt>
                <c:pt idx="90">
                  <c:v>3.6</c:v>
                </c:pt>
                <c:pt idx="91">
                  <c:v>3.6</c:v>
                </c:pt>
                <c:pt idx="92">
                  <c:v>3.6</c:v>
                </c:pt>
                <c:pt idx="93">
                  <c:v>1.5</c:v>
                </c:pt>
                <c:pt idx="94">
                  <c:v>1.5</c:v>
                </c:pt>
                <c:pt idx="95">
                  <c:v>1.5</c:v>
                </c:pt>
                <c:pt idx="96">
                  <c:v>1.5</c:v>
                </c:pt>
                <c:pt idx="97">
                  <c:v>1.5</c:v>
                </c:pt>
                <c:pt idx="98">
                  <c:v>1.5</c:v>
                </c:pt>
                <c:pt idx="99">
                  <c:v>1.5</c:v>
                </c:pt>
                <c:pt idx="100">
                  <c:v>1.5</c:v>
                </c:pt>
                <c:pt idx="101">
                  <c:v>1.5</c:v>
                </c:pt>
                <c:pt idx="102">
                  <c:v>1.5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  <c:pt idx="201">
                  <c:v>1</c:v>
                </c:pt>
                <c:pt idx="202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47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478"/>
                    </a:solidFill>
                    <a:latin typeface="Arial"/>
                  </a:rPr>
                  <a:t>tempo (s)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4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5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6350" cap="flat">
              <a:solidFill>
                <a:srgbClr val="E3E5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47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478"/>
                    </a:solidFill>
                    <a:latin typeface="Arial"/>
                  </a:rPr>
                  <a:t>g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4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Isa: O MeuAmparo é um dispositivo vestível para pessoas idosas que detecta queda, aceita pedido de ajuda pelo botão e avisa o cuidador com a localização. No seminário de planejamento mostramos o plano. Hoje mostramos o que foi construído, rodando no simulador, como o projeto está organizado e o que ainda falta até 25/11.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Gustavo: O código andou mais rápido que o plano: o algoritmo, o firmware e a simulação estão funcionando. Os requisitos, o diagrama de blocos e o fluxograma também estão prontos, mas foram escritos antes de ouvir uma instituição: vamos validá-los na reunião com a coordenação da Casa do Vovô, marcada para 3 de novembro. As outras duas instituições não deram retorno. Também mudamos o escopo: o backend com painel de alertas saiu, e o esforço foi todo para o código embarcado.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Gustavo: Este é o caminho de uma leitura até o alerta. À esquerda, o que entra: o sensor, o botão e a posição, que hoje é fixa porque o Wokwi não tem GNSS. O firmware lê e entrega tudo ao core, o bloco verde, que é C puro e decide: detecta a queda, controla os estados, confere a área segura e monta o alerta. À direita, o que sai: LED, buzzer, o visor e a linha MA_ALERT no serial. Embaixo está o motivo da separação: o mesmo core é compilado no computador pelo make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Isa: Este é o diagrama de blocos. O que está em linha cheia existe na simulação: o sensor e o botão entram no ESP32-S3, o firmware detecta a queda, confere a área segura e a máquina de estados decide o que acionar: LED, buzzer e a mensagem de alerta, que na simulação sai pela porta serial. O tracejado é o que fica para a placa física: o módulo SIM7670G, com 4G e GNSS, e a bateria. O visor OLED entrou no firmware depois do diagrama.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Isa: O fluxograma mostra um ciclo do firmware, que se repete a cada 20 milissegundos. Ele lê o sensor; se a leitura falhar, registra e segue. Depois atualiza o detector, lê o botão e a posição, e passa pelas decisões em ordem: se há queda pendente e o botão foi apertado, cancela; se a queda está pendente há 10 segundos, envia o alerta; e assim por diante. As caixas vermelhas são os três tipos de alerta.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Gustavo: Esta é a árvore do repositório. À esquerda, docs, com o material da disciplina e o que o grupo produz, e o Makefile da raiz, que é por onde tudo começa. À direita, src/meuamparo, o que roda, em quatro pastas: core com os cabeçalhos e o código do detector, da máquina de estados, do geofence e do alerta; firmware com o main e um arquivo por periférico; simulator com o circuito, o wokwi.toml e os cenários; e test com um teste para cada módulo do core.
Os links "ver no GitHub" funcionam depois do push para o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Gustavo: A regra mais importante do projeto é esta divisão. O core decide: é C puro, não inclui nada do ESP-IDF, e ali estão o detector de queda, a máquina de estados, o geofence e o formato do alerta. O firmware executa: lê o sensor por I2C e o botão, liga LED, buzzer e visor e manda o alerta, e não tem nenhum código de teste dentro. O simulator é a bancada e o test é a prova no computador. Por que dividir assim? Primeiro, para medir o detector contra centenas de registros em segundos, no Mac, sem gravar a placa a cada ajuste. Segundo, porque é o mesmo arquivo .c dos dois lados: o componente meuamparo_core do firmware aponta direto para core/src, não é uma cópia. Terceiro, se a placa, o visor ou o jeito de enviar o alerta mudarem, a lógica não muda.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Gustavo: Escrevemos em C com o ESP-IDF, que é o framework oficial da Espressif. O alvo é o ESP32-S3. Para simular usamos o Wokwi de dois jeitos: o wokwi-cli roda o firmware real sem tela, nos testes automáticos, e a extensão do VS Code mostra o mesmo circuito na tela para a gente interagir. O Make amarra tudo num comando. O código está no GitHub, com as tarefas nas issues, sob licença GPL v3.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Gustavo: O sensor mede a aceleração em três eixos e calculamos a magnitude, que não depende de como o dispositivo está preso. Em repouso ela fica em 1 g. Numa queda aparecem três coisas em sequência: a queda livre, quando a magnitude cai perto de zero; o impacto, um pico forte; e depois a pessoa parada no chão. A terceira fase é o que separa queda de pulo. Quem pula também tem queda livre e impacto, mas volta a se mexer.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Gustavo: O detector é uma máquina de estados alimentada a 50 amostras por segundo. Nas linhas 65 a 71, se o impacto não chega em um segundo, volta ao início. Nas linhas 79 a 89, na imobilidade, qualquer movimento cancela, e só depois de um segundo e meio parado a função devolve verdadeiro, uma única vez.
Os links "ver no GitHub" funcionam depois do push para o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Gustavo: Detectar a queda não basta, falta decidir o que fazer. Depois de uma queda abrimos uma janela de 10 segundos em que o dispositivo avisa a própria pessoa e ela pode cancelar pelo botão, se estiver bem. É uma defesa contra alarme falso que não depende de afinar limiar. Fora dessa janela, o botão é pedido de ajuda e o alerta sai na hora. Na saída da área segura não tocamos o buzzer: quem está desorientado na rua não precisa de um apito, quem precisa saber é o cuidador.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Gustavo: Aqui está a janela de cancelamento no código. No estado de monitoramento, o botão tem prioridade: se chegam botão e queda juntos, a pessoa está consciente e pediu ajuda. A queda abre a janela. No estado pendente, o botão cancela; passados os 10 segundos sem botão, o alerta de queda sai.
Os links "ver no GitHub" funcionam depois do push para o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Gustavo: Este é o coração do firmware, nas linhas 220 a 230 e 272 a 274 do main.c. A cada 20 ms ele lê o sensor e o botão, entrega ao core e executa o que voltou: liga LED, buzzer e visor e, se for o caso, envia o alerta. O alerta é um JSON de uma linha com tipo, horário e posição. Na simulação ele sai no serial; na placa sairia pelo modem 4G, trocando um único arquivo.
Os links "ver no GitHub" funcionam depois do push para o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Gustavo: O circuito usa o devkit ESP32-S3 do Wokwi com o sensor, o visor, o botão, o buzzer e o LED. Sensor e visor dividem o mesmo barramento I2C, cada um no seu endereço, então o visor não gastou pino. O buzzer recebe uma onda de 2 kHz, faixa em que o ouvido é mais sensível. O OLED entra no lugar do visor touch de 1,69 polegada, que o Wokwi não tem. E na placa escolhida parte desses pinos é do modem.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Gustavo: Tudo isso roda com um comando. Esta é a saída real do make help na raiz do repositório. O make sim carrega o ambiente do ESP-IDF sozinho, lê o token do Wokwi de um arquivo fora do repositório, compila o firmware e roda os quatro cenários, um atrás do outro. Se um falhar, para ali e mostra o log. Para a apresentação, os alvos sim-queda, sim-cancelada, sim-botao e sim-pulo rodam um cenário de cada vez, com tudo na tela.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Gustavo: Por dentro, o alvo sim está nas linhas 102 a 112 do Makefile. Ele depende do alvo firmware, então sempre testa o binário recém-compilado. Lê o token do Wokwi de um arquivo fora do repositório, roda cada cenário com o wokwi-cli e, se um falhar, para tudo.
Os links "ver no GitHub" funcionam depois do push para o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Gustavo: Cada cenário é um teste do sistema inteiro: o firmware real rodando no Wokwi. Este é o da queda. Ele espera o dispositivo ficar pronto, leva o sensor a 0,1 g por 300 ms, que é a queda livre, depois a 4 g, que é o impacto, e deixa a pessoa deitada. Aí espera a linha 'queda confirmada', depois o MA_ALERT do tipo fall, e confere que o LED está aceso. São quatro cenários, e os quatro passam. Se alguém mexer no limiar e quebrar a detecção, o make sim acusa.
Os links "ver no GitHub" funcionam depois do push para o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Gustavo: Para ver o circuito e mexer nele, usamos a extensão do Wokwi no VS Code. Abre a pasta do simulador, pede a licença uma vez pela conta Wokwi e manda iniciar. O arquivo wokwi.toml aponta para o mesmo binário que os cenários testam, então o que aparece na tela é o firmware que passou nos testes. Quem não usa VS Code pode rodar make web e subir o arquivo no wokwi.com.
Os links "ver no GitHub" funcionam depois do push para o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Gustavo: Testamos em duas camadas. No computador, o detector roda contra traces que nós mesmos escrevemos: pega todas as quedas fortes e menos da metade das amortecidas, e não dispara em nenhuma atividade comum. Esse número não é a meta de 90%, porque o trace foi escrito sabendo como o detector funciona. A medição de verdade vai usar o SisFall, um conjunto público de registros de quedas. No Wokwi, os quatro cenários testam o sistema inteiro.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Gustavo: Para fechar a parte técnica: um comando reproduz tudo. O mesmo código C roda no computador e na placa, então o detector é afinado em segundos, não em ciclos de gravar e testar. Os cenários funcionam como teste de regressão do sistema inteiro. E fazemos questão de dizer o que não está provado: os traces são sintéticos, não houve hardware e a posição é fixa.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Isa: Agora a simulação rodando. Cada comando roda um cenário e o firmware narra o que está acontecendo: queda livre, impacto, pessoa parada e deitada, queda detectada, alerta enviado. Começamos pela queda, depois a queda cancelada, o botão e o pulo, que não pode gerar alerta. Por fim, o circuito ao vivo no VS Code, com o botão e o visor.
Preparação: antes da aula, rodar make firmware, deixar o VS Code aberto em src/meuamparo/simulator/wokwi com a licença ativa, e um terminal na raiz do repositório.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Isa: A maior dificuldade foi o contato com as instituições. Liguei para as três: o Lar Padre Euclides não respondeu nem atendeu, e no Lar do Vovô Albano fiquei sem retorno da assistente social. Só a Casa do Vovô aceitou, e a reunião com a coordenação está marcada para 3 de novembro. Por isso os requisitos foram escritos antes de ouvir a instituição, a partir dos objetivos do projeto, e ficaram prontos com atraso no fim de outubro. Vamos levá-los para validar na reunião. Também pesaram o tempo e o custo: em 16 de setembro decidimos não comprar a placa, que sairia entre 597 e 622 reais, estimativa de setembro.
Gustavo: No técnico, foi a primeira vez que usamos o Wokwi: o token de CI, a licença da extensão e os cenários automáticos. A simulação tem limite: o Wokwi não tem GNSS nem modem 4G, então a posição é fixa e o alerta sai no serial. Provocar a queda com o slider é difícil, e por isso escrevemos os cenários. E uma atualização do Python pelo Homebrew quebrou o ambiente do ESP-IDF, o que resolvemos no Makefile.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um fala o próprio bloco, em primeira pessoa. "O que eu aprendi?": falar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Isa: O simulador cobre a lógica e a demonstração. Autonomia, conforto e alarme falso no uso real só se medem com a placa e com pessoas. Até 25/11 temos a reunião com a coordenação da Casa do Vovô em 3 de novembro, para validar os requisitos e os diagramas, a medição do detector com dados reais, o GPS, que hoje é uma posição fixa porque o Wokwi não tem GNSS, a avaliação de reação com a instituição e o relatório final. Obrigado.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3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9B4B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ustavomoda/MeuAmparo/tree/main/src/meuamparo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ustavomoda/MeuAmparo/blob/main/src/meuamparo/core/src/fall.c#L65-L89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ustavomoda/MeuAmparo/blob/main/src/meuamparo/core/src/device.c#L40-L62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ustavomoda/MeuAmparo/blob/main/src/meuamparo/firmware/main/main.c#L220-L274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ustavomoda/MeuAmparo/blob/main/src/meuamparo/Makefile#L102-L112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ustavomoda/MeuAmparo/blob/main/src/meuamparo/simulator/wokwi/scenarios/queda.yaml#L7-L22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ustavomoda/MeuAmparo/blob/main/src/meuamparo/simulator/wokwi/wokwi.toml#L3-L6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2E"/>
                </a:solidFill>
              </a:rPr>
              <a:t>MeuAmparo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2787F"/>
                </a:solidFill>
              </a:rPr>
              <a:t>Seminário de desenvolvimento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331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</a:rPr>
              <a:t>Detecção de queda e pedido de ajuda rodando no simulador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0632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E"/>
                </a:solidFill>
              </a:rPr>
              <a:t>Luis Gustavo Moda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2E"/>
                </a:solidFill>
              </a:rPr>
              <a:t>Isabelly Vitoria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160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78"/>
                </a:solidFill>
              </a:rPr>
              <a:t>Programação de Microcontroladores (ARA4710)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478"/>
                </a:solidFill>
              </a:rPr>
              <a:t>Estácio Ribeirão Preto • 28/10/2026</a:t>
            </a:r>
            <a:endParaRPr lang="en-US" sz="1000" dirty="0"/>
          </a:p>
        </p:txBody>
      </p:sp>
      <p:pic>
        <p:nvPicPr>
          <p:cNvPr id="7" name="Image 0" descr="Marca do MeuAmparo: duas figuras abraçad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960120"/>
            <a:ext cx="29260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3. Desenvolvimento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Onde estamos</a:t>
            </a:r>
            <a:endParaRPr lang="en-US" sz="2600" dirty="0"/>
          </a:p>
        </p:txBody>
      </p:sp>
      <p:sp>
        <p:nvSpPr>
          <p:cNvPr id="4" name="col-0"/>
          <p:cNvSpPr/>
          <p:nvPr/>
        </p:nvSpPr>
        <p:spPr>
          <a:xfrm>
            <a:off x="457200" y="12344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5" name="ic-0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rgbClr val="02787F"/>
          </a:solidFill>
          <a:ln w="12700">
            <a:solidFill>
              <a:srgbClr val="02787F"/>
            </a:solidFill>
            <a:prstDash val="solid"/>
          </a:ln>
        </p:spPr>
      </p:sp>
      <p:pic>
        <p:nvPicPr>
          <p:cNvPr id="6" name="Image 0" descr="ic-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57734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E"/>
                </a:solidFill>
              </a:rPr>
              <a:t>Pronto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031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2E"/>
                </a:solidFill>
              </a:rPr>
              <a:t>Detector de queda e máquina de estados, com testes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2E"/>
                </a:solidFill>
              </a:rPr>
              <a:t>Firmware: sensor, botão, LED, buzzer e visor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2E"/>
                </a:solidFill>
              </a:rPr>
              <a:t>Circuito e 4 cenários no Wokwi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2E"/>
                </a:solidFill>
              </a:rPr>
              <a:t>11 requisitos, diagrama de blocos e fluxograma (a validar com a Casa do Vovô)</a:t>
            </a:r>
            <a:endParaRPr lang="en-US" sz="1200" dirty="0"/>
          </a:p>
        </p:txBody>
      </p:sp>
      <p:sp>
        <p:nvSpPr>
          <p:cNvPr id="9" name="col-1"/>
          <p:cNvSpPr/>
          <p:nvPr/>
        </p:nvSpPr>
        <p:spPr>
          <a:xfrm>
            <a:off x="3246120" y="12344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10" name="ic-1"/>
          <p:cNvSpPr/>
          <p:nvPr/>
        </p:nvSpPr>
        <p:spPr>
          <a:xfrm>
            <a:off x="3474720" y="1463040"/>
            <a:ext cx="457200" cy="457200"/>
          </a:xfrm>
          <a:prstGeom prst="ellipse">
            <a:avLst/>
          </a:prstGeom>
          <a:solidFill>
            <a:srgbClr val="6FA8AC"/>
          </a:solidFill>
          <a:ln w="12700">
            <a:solidFill>
              <a:srgbClr val="6FA8AC"/>
            </a:solidFill>
            <a:prstDash val="solid"/>
          </a:ln>
        </p:spPr>
      </p:sp>
      <p:pic>
        <p:nvPicPr>
          <p:cNvPr id="11" name="Image 1" descr="ic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157734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6908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E"/>
                </a:solidFill>
              </a:rPr>
              <a:t>Em andamento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21031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2E"/>
                </a:solidFill>
              </a:rPr>
              <a:t>Teste com dataset real (SisFall)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2E"/>
                </a:solidFill>
              </a:rPr>
              <a:t>Registro dos testes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2E"/>
                </a:solidFill>
              </a:rPr>
              <a:t>Roteiro 3 e relatos</a:t>
            </a:r>
            <a:endParaRPr lang="en-US" sz="1200" dirty="0"/>
          </a:p>
        </p:txBody>
      </p:sp>
      <p:sp>
        <p:nvSpPr>
          <p:cNvPr id="14" name="col-2"/>
          <p:cNvSpPr/>
          <p:nvPr/>
        </p:nvSpPr>
        <p:spPr>
          <a:xfrm>
            <a:off x="6035040" y="12344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15" name="ic-2"/>
          <p:cNvSpPr/>
          <p:nvPr/>
        </p:nvSpPr>
        <p:spPr>
          <a:xfrm>
            <a:off x="6263640" y="1463040"/>
            <a:ext cx="457200" cy="457200"/>
          </a:xfrm>
          <a:prstGeom prst="ellipse">
            <a:avLst/>
          </a:prstGeom>
          <a:solidFill>
            <a:srgbClr val="DA624E"/>
          </a:solidFill>
          <a:ln w="12700">
            <a:solidFill>
              <a:srgbClr val="DA624E"/>
            </a:solidFill>
            <a:prstDash val="solid"/>
          </a:ln>
        </p:spPr>
      </p:sp>
      <p:pic>
        <p:nvPicPr>
          <p:cNvPr id="16" name="Image 2" descr="ic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0" y="157734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5800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E"/>
                </a:solidFill>
              </a:rPr>
              <a:t>Pendente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21031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2E"/>
                </a:solidFill>
              </a:rPr>
              <a:t>Validação com a Casa do Vovô: reunião em 03/11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2E"/>
                </a:solidFill>
              </a:rPr>
              <a:t>Lar Padre Euclides e Lar do Vovô Albano sem retorno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7365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78"/>
                </a:solidFill>
              </a:rPr>
              <a:t>Backend e painel saíram do escopo: o esforço foi para o código embarcado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4.1.3 Modelagem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Arquitetura: do sensor ao alerta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478"/>
                </a:solidFill>
              </a:rPr>
              <a:t>Entradas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240280" y="10972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firmware/main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0972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787F"/>
                </a:solidFill>
              </a:rPr>
              <a:t>core: C puro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0972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478"/>
                </a:solidFill>
              </a:rPr>
              <a:t>Saídas</a:t>
            </a:r>
            <a:endParaRPr lang="en-US" sz="1000" dirty="0"/>
          </a:p>
        </p:txBody>
      </p:sp>
      <p:sp>
        <p:nvSpPr>
          <p:cNvPr id="8" name="in-imu"/>
          <p:cNvSpPr/>
          <p:nvPr/>
        </p:nvSpPr>
        <p:spPr>
          <a:xfrm>
            <a:off x="457200" y="137160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1371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2E"/>
                </a:solidFill>
              </a:rPr>
              <a:t>MPU6050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A2E"/>
                </a:solidFill>
              </a:rPr>
              <a:t>I2C 0x68</a:t>
            </a:r>
            <a:endParaRPr lang="en-US" sz="1250" dirty="0"/>
          </a:p>
        </p:txBody>
      </p:sp>
      <p:sp>
        <p:nvSpPr>
          <p:cNvPr id="10" name="in-btn"/>
          <p:cNvSpPr/>
          <p:nvPr/>
        </p:nvSpPr>
        <p:spPr>
          <a:xfrm>
            <a:off x="457200" y="214884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1488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2E"/>
                </a:solidFill>
              </a:rPr>
              <a:t>Botão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A2E"/>
                </a:solidFill>
              </a:rPr>
              <a:t>GPIO 4</a:t>
            </a:r>
            <a:endParaRPr lang="en-US" sz="1250" dirty="0"/>
          </a:p>
        </p:txBody>
      </p:sp>
      <p:sp>
        <p:nvSpPr>
          <p:cNvPr id="12" name="in-pos"/>
          <p:cNvSpPr/>
          <p:nvPr/>
        </p:nvSpPr>
        <p:spPr>
          <a:xfrm>
            <a:off x="457200" y="292608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29260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B7478"/>
                </a:solidFill>
              </a:rPr>
              <a:t>Posição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478"/>
                </a:solidFill>
              </a:rPr>
              <a:t>fixa (sem GNSS)</a:t>
            </a:r>
            <a:endParaRPr lang="en-US" sz="1250" dirty="0"/>
          </a:p>
        </p:txBody>
      </p:sp>
      <p:sp>
        <p:nvSpPr>
          <p:cNvPr id="14" name="drv-imu"/>
          <p:cNvSpPr/>
          <p:nvPr/>
        </p:nvSpPr>
        <p:spPr>
          <a:xfrm>
            <a:off x="2240280" y="137160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286000" y="1371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2E"/>
                </a:solidFill>
              </a:rPr>
              <a:t>mpu6050.c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A2E"/>
                </a:solidFill>
              </a:rPr>
              <a:t>lê 14 bytes, ±8 g</a:t>
            </a:r>
            <a:endParaRPr lang="en-US" sz="1250" dirty="0"/>
          </a:p>
        </p:txBody>
      </p:sp>
      <p:sp>
        <p:nvSpPr>
          <p:cNvPr id="16" name="drv-main"/>
          <p:cNvSpPr/>
          <p:nvPr/>
        </p:nvSpPr>
        <p:spPr>
          <a:xfrm>
            <a:off x="2240280" y="214884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286000" y="2148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2E"/>
                </a:solidFill>
              </a:rPr>
              <a:t>main.c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A2E"/>
                </a:solidFill>
              </a:rPr>
              <a:t>laço de 50 Hz</a:t>
            </a:r>
            <a:endParaRPr lang="en-US" sz="1250" dirty="0"/>
          </a:p>
        </p:txBody>
      </p:sp>
      <p:sp>
        <p:nvSpPr>
          <p:cNvPr id="18" name="drv-pos"/>
          <p:cNvSpPr/>
          <p:nvPr/>
        </p:nvSpPr>
        <p:spPr>
          <a:xfrm>
            <a:off x="2240280" y="292608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286000" y="29260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B7478"/>
                </a:solidFill>
              </a:rPr>
              <a:t>position.c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478"/>
                </a:solidFill>
              </a:rPr>
              <a:t>ponto de casa</a:t>
            </a:r>
            <a:endParaRPr lang="en-US" sz="1250" dirty="0"/>
          </a:p>
        </p:txBody>
      </p:sp>
      <p:sp>
        <p:nvSpPr>
          <p:cNvPr id="20" name="core"/>
          <p:cNvSpPr/>
          <p:nvPr/>
        </p:nvSpPr>
        <p:spPr>
          <a:xfrm>
            <a:off x="4206240" y="1371600"/>
            <a:ext cx="2148840" cy="2194560"/>
          </a:xfrm>
          <a:prstGeom prst="roundRect">
            <a:avLst>
              <a:gd name="adj" fmla="val 3404"/>
            </a:avLst>
          </a:prstGeom>
          <a:solidFill>
            <a:srgbClr val="02787F"/>
          </a:solidFill>
          <a:ln w="12700">
            <a:solidFill>
              <a:srgbClr val="02787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43400" y="14813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fall.c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queda em 3 fases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343400" y="19842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device.c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máquina de estados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24871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geofence.c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área segura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343400" y="29900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alert.c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JSON do alerta</a:t>
            </a:r>
            <a:endParaRPr lang="en-US" sz="1150" dirty="0"/>
          </a:p>
        </p:txBody>
      </p:sp>
      <p:sp>
        <p:nvSpPr>
          <p:cNvPr id="25" name="out-ind"/>
          <p:cNvSpPr/>
          <p:nvPr/>
        </p:nvSpPr>
        <p:spPr>
          <a:xfrm>
            <a:off x="6583680" y="137160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29400" y="1371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2E"/>
                </a:solidFill>
              </a:rPr>
              <a:t>indicators.c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A2E"/>
                </a:solidFill>
              </a:rPr>
              <a:t>LED e buzzer 2 kHz</a:t>
            </a:r>
            <a:endParaRPr lang="en-US" sz="1250" dirty="0"/>
          </a:p>
        </p:txBody>
      </p:sp>
      <p:sp>
        <p:nvSpPr>
          <p:cNvPr id="27" name="out-disp"/>
          <p:cNvSpPr/>
          <p:nvPr/>
        </p:nvSpPr>
        <p:spPr>
          <a:xfrm>
            <a:off x="6583680" y="214884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29400" y="2148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2E"/>
                </a:solidFill>
              </a:rPr>
              <a:t>display.c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A2E"/>
                </a:solidFill>
              </a:rPr>
              <a:t>visor OLED</a:t>
            </a:r>
            <a:endParaRPr lang="en-US" sz="1250" dirty="0"/>
          </a:p>
        </p:txBody>
      </p:sp>
      <p:sp>
        <p:nvSpPr>
          <p:cNvPr id="29" name="out-tx"/>
          <p:cNvSpPr/>
          <p:nvPr/>
        </p:nvSpPr>
        <p:spPr>
          <a:xfrm>
            <a:off x="6583680" y="292608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DA624E"/>
          </a:solidFill>
          <a:ln w="9525">
            <a:solidFill>
              <a:srgbClr val="DA624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29400" y="2926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transport_serial.c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MA_ALERT {json}</a:t>
            </a:r>
            <a:endParaRPr lang="en-US" sz="1250" dirty="0"/>
          </a:p>
        </p:txBody>
      </p:sp>
      <p:sp>
        <p:nvSpPr>
          <p:cNvPr id="31" name="a-in-0"/>
          <p:cNvSpPr/>
          <p:nvPr/>
        </p:nvSpPr>
        <p:spPr>
          <a:xfrm>
            <a:off x="2011680" y="1691640"/>
            <a:ext cx="228600" cy="914"/>
          </a:xfrm>
          <a:prstGeom prst="line">
            <a:avLst/>
          </a:prstGeom>
          <a:noFill/>
          <a:ln w="19050">
            <a:solidFill>
              <a:srgbClr val="6B7478"/>
            </a:solidFill>
            <a:prstDash val="solid"/>
            <a:tailEnd type="triangle"/>
          </a:ln>
        </p:spPr>
      </p:sp>
      <p:sp>
        <p:nvSpPr>
          <p:cNvPr id="32" name="a-in-1"/>
          <p:cNvSpPr/>
          <p:nvPr/>
        </p:nvSpPr>
        <p:spPr>
          <a:xfrm>
            <a:off x="2011680" y="2468880"/>
            <a:ext cx="228600" cy="914"/>
          </a:xfrm>
          <a:prstGeom prst="line">
            <a:avLst/>
          </a:prstGeom>
          <a:noFill/>
          <a:ln w="19050">
            <a:solidFill>
              <a:srgbClr val="6B7478"/>
            </a:solidFill>
            <a:prstDash val="solid"/>
            <a:tailEnd type="triangle"/>
          </a:ln>
        </p:spPr>
      </p:sp>
      <p:sp>
        <p:nvSpPr>
          <p:cNvPr id="33" name="a-in-2"/>
          <p:cNvSpPr/>
          <p:nvPr/>
        </p:nvSpPr>
        <p:spPr>
          <a:xfrm>
            <a:off x="2011680" y="3246120"/>
            <a:ext cx="228600" cy="914"/>
          </a:xfrm>
          <a:prstGeom prst="line">
            <a:avLst/>
          </a:prstGeom>
          <a:noFill/>
          <a:ln w="19050">
            <a:solidFill>
              <a:srgbClr val="6B7478"/>
            </a:solidFill>
            <a:prstDash val="solid"/>
            <a:tailEnd type="triangle"/>
          </a:ln>
        </p:spPr>
      </p:sp>
      <p:sp>
        <p:nvSpPr>
          <p:cNvPr id="34" name="a-core-0"/>
          <p:cNvSpPr/>
          <p:nvPr/>
        </p:nvSpPr>
        <p:spPr>
          <a:xfrm>
            <a:off x="3977640" y="1691640"/>
            <a:ext cx="228600" cy="914"/>
          </a:xfrm>
          <a:prstGeom prst="line">
            <a:avLst/>
          </a:prstGeom>
          <a:noFill/>
          <a:ln w="19050">
            <a:solidFill>
              <a:srgbClr val="6B7478"/>
            </a:solidFill>
            <a:prstDash val="solid"/>
            <a:tailEnd type="triangle"/>
          </a:ln>
        </p:spPr>
      </p:sp>
      <p:sp>
        <p:nvSpPr>
          <p:cNvPr id="35" name="a-core-1"/>
          <p:cNvSpPr/>
          <p:nvPr/>
        </p:nvSpPr>
        <p:spPr>
          <a:xfrm>
            <a:off x="3977640" y="2468880"/>
            <a:ext cx="228600" cy="914"/>
          </a:xfrm>
          <a:prstGeom prst="line">
            <a:avLst/>
          </a:prstGeom>
          <a:noFill/>
          <a:ln w="19050">
            <a:solidFill>
              <a:srgbClr val="6B7478"/>
            </a:solidFill>
            <a:prstDash val="solid"/>
            <a:tailEnd type="triangle"/>
          </a:ln>
        </p:spPr>
      </p:sp>
      <p:sp>
        <p:nvSpPr>
          <p:cNvPr id="36" name="a-core-2"/>
          <p:cNvSpPr/>
          <p:nvPr/>
        </p:nvSpPr>
        <p:spPr>
          <a:xfrm>
            <a:off x="3977640" y="3246120"/>
            <a:ext cx="228600" cy="914"/>
          </a:xfrm>
          <a:prstGeom prst="line">
            <a:avLst/>
          </a:prstGeom>
          <a:noFill/>
          <a:ln w="19050">
            <a:solidFill>
              <a:srgbClr val="6B7478"/>
            </a:solidFill>
            <a:prstDash val="solid"/>
            <a:tailEnd type="triangle"/>
          </a:ln>
        </p:spPr>
      </p:sp>
      <p:sp>
        <p:nvSpPr>
          <p:cNvPr id="37" name="a-out-0"/>
          <p:cNvSpPr/>
          <p:nvPr/>
        </p:nvSpPr>
        <p:spPr>
          <a:xfrm>
            <a:off x="6355080" y="1691640"/>
            <a:ext cx="228600" cy="914"/>
          </a:xfrm>
          <a:prstGeom prst="line">
            <a:avLst/>
          </a:prstGeom>
          <a:noFill/>
          <a:ln w="19050">
            <a:solidFill>
              <a:srgbClr val="6B7478"/>
            </a:solidFill>
            <a:prstDash val="solid"/>
            <a:tailEnd type="triangle"/>
          </a:ln>
        </p:spPr>
      </p:sp>
      <p:sp>
        <p:nvSpPr>
          <p:cNvPr id="38" name="a-out-1"/>
          <p:cNvSpPr/>
          <p:nvPr/>
        </p:nvSpPr>
        <p:spPr>
          <a:xfrm>
            <a:off x="6355080" y="2468880"/>
            <a:ext cx="228600" cy="914"/>
          </a:xfrm>
          <a:prstGeom prst="line">
            <a:avLst/>
          </a:prstGeom>
          <a:noFill/>
          <a:ln w="19050">
            <a:solidFill>
              <a:srgbClr val="6B7478"/>
            </a:solidFill>
            <a:prstDash val="solid"/>
            <a:tailEnd type="triangle"/>
          </a:ln>
        </p:spPr>
      </p:sp>
      <p:sp>
        <p:nvSpPr>
          <p:cNvPr id="39" name="a-out-2"/>
          <p:cNvSpPr/>
          <p:nvPr/>
        </p:nvSpPr>
        <p:spPr>
          <a:xfrm>
            <a:off x="6355080" y="3246120"/>
            <a:ext cx="228600" cy="914"/>
          </a:xfrm>
          <a:prstGeom prst="line">
            <a:avLst/>
          </a:prstGeom>
          <a:noFill/>
          <a:ln w="19050">
            <a:solidFill>
              <a:srgbClr val="6B7478"/>
            </a:solidFill>
            <a:prstDash val="solid"/>
            <a:tailEnd type="triangle"/>
          </a:ln>
        </p:spPr>
      </p:sp>
      <p:sp>
        <p:nvSpPr>
          <p:cNvPr id="40" name="host"/>
          <p:cNvSpPr/>
          <p:nvPr/>
        </p:nvSpPr>
        <p:spPr>
          <a:xfrm>
            <a:off x="4206240" y="3886200"/>
            <a:ext cx="2148840" cy="685800"/>
          </a:xfrm>
          <a:prstGeom prst="roundRect">
            <a:avLst>
              <a:gd name="adj" fmla="val 10667"/>
            </a:avLst>
          </a:prstGeom>
          <a:solidFill>
            <a:srgbClr val="F2B8AC"/>
          </a:solidFill>
          <a:ln w="9525">
            <a:solidFill>
              <a:srgbClr val="F2B8A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251960" y="38862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2E"/>
                </a:solidFill>
              </a:rPr>
              <a:t>make test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A2E"/>
                </a:solidFill>
              </a:rPr>
              <a:t>o mesmo core no Mac</a:t>
            </a:r>
            <a:endParaRPr lang="en-US" sz="1250" dirty="0"/>
          </a:p>
        </p:txBody>
      </p:sp>
      <p:sp>
        <p:nvSpPr>
          <p:cNvPr id="42" name="a-host"/>
          <p:cNvSpPr/>
          <p:nvPr/>
        </p:nvSpPr>
        <p:spPr>
          <a:xfrm flipV="1">
            <a:off x="5280660" y="3566160"/>
            <a:ext cx="914" cy="320040"/>
          </a:xfrm>
          <a:prstGeom prst="line">
            <a:avLst/>
          </a:prstGeom>
          <a:noFill/>
          <a:ln w="19050">
            <a:solidFill>
              <a:srgbClr val="DA624E"/>
            </a:solidFill>
            <a:prstDash val="solid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457200" y="3931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E"/>
                </a:solidFill>
              </a:rPr>
              <a:t>O core não inclui nenhum header do ESP-IDF. Por isso o mesmo arquivo .c roda na placa e no computador.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6583680" y="3931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478"/>
                </a:solidFill>
              </a:rPr>
              <a:t>Na placa, o transporte serial é trocado pelo modem 4G, com o mesmo contrato.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4.1.3 Modelagem: diagrama de blocos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Diagrama de blocos do hardware</a:t>
            </a:r>
            <a:endParaRPr lang="en-US" sz="2600" dirty="0"/>
          </a:p>
        </p:txBody>
      </p:sp>
      <p:pic>
        <p:nvPicPr>
          <p:cNvPr id="4" name="Image 0" descr="Diagrama de blocos: MPU6050 e botão entram no ESP32-S3; detector, área segura e máquina de estados geram LED, buzzer e mensagem de alerta; modem SIM7670G e bateria tracejados, fora da simulaç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800600" cy="348343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532120" y="11887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</a:rPr>
              <a:t>Linha cheia: presente na simulação. Tracejado: previsto na placa física (modem 4G e GNSS do SIM7670G, bateria 18650).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532120" y="21945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</a:rPr>
              <a:t>O alerta sai pela porta serial na simulação; na placa, sairia pelo modem 4G até o cuidador.</a:t>
            </a:r>
            <a:endParaRPr lang="en-US" sz="1250" dirty="0"/>
          </a:p>
        </p:txBody>
      </p:sp>
      <p:sp>
        <p:nvSpPr>
          <p:cNvPr id="7" name="oled-note"/>
          <p:cNvSpPr/>
          <p:nvPr/>
        </p:nvSpPr>
        <p:spPr>
          <a:xfrm>
            <a:off x="5532120" y="3108960"/>
            <a:ext cx="3154680" cy="868680"/>
          </a:xfrm>
          <a:prstGeom prst="roundRect">
            <a:avLst>
              <a:gd name="adj" fmla="val 8421"/>
            </a:avLst>
          </a:prstGeom>
          <a:solidFill>
            <a:srgbClr val="EAF3F3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0" y="31546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E"/>
                </a:solidFill>
              </a:rPr>
              <a:t>O visor OLED entrou no firmware depois deste diagrama (28/10).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7365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78"/>
                </a:solidFill>
              </a:rPr>
              <a:t>Diagrama: Isabelly Vitoria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4.1.3 Modelagem: fluxograma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Fluxograma do firmware</a:t>
            </a:r>
            <a:endParaRPr lang="en-US" sz="2600" dirty="0"/>
          </a:p>
        </p:txBody>
      </p:sp>
      <p:pic>
        <p:nvPicPr>
          <p:cNvPr id="4" name="Image 0" descr="Fluxograma do firmware: inicializa, lê o MPU6050 e, a cada ciclo de 20 ms, decide entre cancelar, enviar alerta, piscar o aviso ou seguir monitoran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2379726" cy="3657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291840" y="1143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787F"/>
                </a:solidFill>
              </a:rPr>
              <a:t>Um ciclo a cada 20 ms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3291840" y="143560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</a:rPr>
              <a:t>lê o sensor, atualiza o detector, lê o botão e a posição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3291840" y="20116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787F"/>
                </a:solidFill>
              </a:rPr>
              <a:t>Decisões em ordem de prioridade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3291840" y="23042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</a:rPr>
              <a:t>cancelamento primeiro, depois alerta de queda, aviso, botão e área segura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291840" y="28803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787F"/>
                </a:solidFill>
              </a:rPr>
              <a:t>Três saídas vermelhas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3291840" y="317296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</a:rPr>
              <a:t>alerta de queda, pedido de ajuda e saída da área segura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291840" y="3749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787F"/>
                </a:solidFill>
              </a:rPr>
              <a:t>Falha de leitura não trava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3291840" y="404164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</a:rPr>
              <a:t>registra no serial e segue para o próximo ciclo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7365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78"/>
                </a:solidFill>
              </a:rPr>
              <a:t>Diagrama: Isabelly Vitoria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Repositório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Como as pastas estão organizadas</a:t>
            </a:r>
            <a:endParaRPr lang="en-US" sz="2600" dirty="0"/>
          </a:p>
        </p:txBody>
      </p:sp>
      <p:sp>
        <p:nvSpPr>
          <p:cNvPr id="4" name="f-root"/>
          <p:cNvSpPr/>
          <p:nvPr/>
        </p:nvSpPr>
        <p:spPr>
          <a:xfrm>
            <a:off x="457200" y="1188720"/>
            <a:ext cx="1783080" cy="411480"/>
          </a:xfrm>
          <a:prstGeom prst="roundRect">
            <a:avLst>
              <a:gd name="adj" fmla="val 13333"/>
            </a:avLst>
          </a:prstGeom>
          <a:solidFill>
            <a:srgbClr val="0F3B3E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61872"/>
            <a:ext cx="1600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meuamparo/</a:t>
            </a:r>
            <a:endParaRPr lang="en-US" sz="950" dirty="0"/>
          </a:p>
        </p:txBody>
      </p:sp>
      <p:sp>
        <p:nvSpPr>
          <p:cNvPr id="6" name="f-docs"/>
          <p:cNvSpPr/>
          <p:nvPr/>
        </p:nvSpPr>
        <p:spPr>
          <a:xfrm>
            <a:off x="457200" y="187452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47672"/>
            <a:ext cx="1600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7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27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material-disciplina/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27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projeto/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834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478"/>
                </a:solidFill>
              </a:rPr>
              <a:t>o que vai para a faculdade</a:t>
            </a:r>
            <a:endParaRPr lang="en-US" sz="950" dirty="0"/>
          </a:p>
        </p:txBody>
      </p:sp>
      <p:sp>
        <p:nvSpPr>
          <p:cNvPr id="9" name="f-make"/>
          <p:cNvSpPr/>
          <p:nvPr/>
        </p:nvSpPr>
        <p:spPr>
          <a:xfrm>
            <a:off x="457200" y="329184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64992"/>
            <a:ext cx="16002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7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Makefile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sim, make test</a:t>
            </a:r>
            <a:endParaRPr lang="en-US" sz="950" dirty="0"/>
          </a:p>
        </p:txBody>
      </p:sp>
      <p:sp>
        <p:nvSpPr>
          <p:cNvPr id="11" name="l-docs"/>
          <p:cNvSpPr/>
          <p:nvPr/>
        </p:nvSpPr>
        <p:spPr>
          <a:xfrm>
            <a:off x="914400" y="1600200"/>
            <a:ext cx="914" cy="274320"/>
          </a:xfrm>
          <a:prstGeom prst="line">
            <a:avLst/>
          </a:prstGeom>
          <a:noFill/>
          <a:ln w="19050">
            <a:solidFill>
              <a:srgbClr val="6B7478"/>
            </a:solidFill>
            <a:prstDash val="solid"/>
            <a:tailEnd type="triangle"/>
          </a:ln>
        </p:spPr>
      </p:sp>
      <p:sp>
        <p:nvSpPr>
          <p:cNvPr id="12" name="f-src"/>
          <p:cNvSpPr/>
          <p:nvPr/>
        </p:nvSpPr>
        <p:spPr>
          <a:xfrm>
            <a:off x="2514600" y="1188720"/>
            <a:ext cx="6172200" cy="411480"/>
          </a:xfrm>
          <a:prstGeom prst="roundRect">
            <a:avLst>
              <a:gd name="adj" fmla="val 13333"/>
            </a:avLst>
          </a:prstGeom>
          <a:solidFill>
            <a:srgbClr val="02787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06040" y="1261872"/>
            <a:ext cx="5989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src/meuamparo/   o que roda</a:t>
            </a:r>
            <a:endParaRPr lang="en-US" sz="950" dirty="0"/>
          </a:p>
        </p:txBody>
      </p:sp>
      <p:sp>
        <p:nvSpPr>
          <p:cNvPr id="14" name="l-src"/>
          <p:cNvSpPr/>
          <p:nvPr/>
        </p:nvSpPr>
        <p:spPr>
          <a:xfrm>
            <a:off x="2240280" y="1389888"/>
            <a:ext cx="274320" cy="914"/>
          </a:xfrm>
          <a:prstGeom prst="line">
            <a:avLst/>
          </a:prstGeom>
          <a:noFill/>
          <a:ln w="19050">
            <a:solidFill>
              <a:srgbClr val="6B7478"/>
            </a:solidFill>
            <a:prstDash val="solid"/>
            <a:tailEnd type="triangle"/>
          </a:ln>
        </p:spPr>
      </p:sp>
      <p:sp>
        <p:nvSpPr>
          <p:cNvPr id="15" name="f-core/"/>
          <p:cNvSpPr/>
          <p:nvPr/>
        </p:nvSpPr>
        <p:spPr>
          <a:xfrm>
            <a:off x="2514600" y="1783080"/>
            <a:ext cx="1508760" cy="28346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06040" y="1856232"/>
            <a:ext cx="132588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7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27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include/meuamparo/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fall.h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device.h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geofence.h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alert.h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imu.h, types.h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27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 .c de cada um</a:t>
            </a:r>
            <a:endParaRPr lang="en-US" sz="950" dirty="0"/>
          </a:p>
        </p:txBody>
      </p:sp>
      <p:sp>
        <p:nvSpPr>
          <p:cNvPr id="17" name="f-firmware/"/>
          <p:cNvSpPr/>
          <p:nvPr/>
        </p:nvSpPr>
        <p:spPr>
          <a:xfrm>
            <a:off x="4078224" y="1783080"/>
            <a:ext cx="1508760" cy="28346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69664" y="1856232"/>
            <a:ext cx="132588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7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firmware/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27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mpu6050.c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display.c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indicators.c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position.c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transport_serial.c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i2c_bus.c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board.h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27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meuamparo_core</a:t>
            </a:r>
            <a:endParaRPr lang="en-US" sz="950" dirty="0"/>
          </a:p>
        </p:txBody>
      </p:sp>
      <p:sp>
        <p:nvSpPr>
          <p:cNvPr id="19" name="f-simulator/"/>
          <p:cNvSpPr/>
          <p:nvPr/>
        </p:nvSpPr>
        <p:spPr>
          <a:xfrm>
            <a:off x="5641848" y="1783080"/>
            <a:ext cx="1508760" cy="28346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33288" y="1856232"/>
            <a:ext cx="132588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7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simulator/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27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wokwi/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diagram.json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wokwi.toml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27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scenarios/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botao.yaml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queda.yaml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queda-cancelada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pulo.yaml</a:t>
            </a:r>
            <a:endParaRPr lang="en-US" sz="950" dirty="0"/>
          </a:p>
        </p:txBody>
      </p:sp>
      <p:sp>
        <p:nvSpPr>
          <p:cNvPr id="21" name="f-test/"/>
          <p:cNvSpPr/>
          <p:nvPr/>
        </p:nvSpPr>
        <p:spPr>
          <a:xfrm>
            <a:off x="7205472" y="1783080"/>
            <a:ext cx="1508760" cy="28346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96912" y="1856232"/>
            <a:ext cx="132588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7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test_fall.c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test_device.c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test_geofence.c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test_imu.c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ma_test.h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7365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78"/>
                </a:solidFill>
              </a:rPr>
              <a:t>Pastas e arquivos reais de src/meuamparo em 28/10/2026</a:t>
            </a:r>
            <a:endParaRPr lang="en-US" sz="1000" dirty="0"/>
          </a:p>
        </p:txBody>
      </p:sp>
      <p:sp>
        <p:nvSpPr>
          <p:cNvPr id="24" name="gh-link"/>
          <p:cNvSpPr txBox="1"/>
          <p:nvPr/>
        </p:nvSpPr>
        <p:spPr>
          <a:xfrm>
            <a:off x="6675120" y="47548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u="sng" dirty="0">
                <a:solidFill>
                  <a:srgbClr val="02787F"/>
                </a:solidFill>
                <a:hlinkClick r:id="rId1" invalidUrl="" action="" tgtFrame="" tooltip="https://github.com/gustavomoda/MeuAmparo/tree/main/src/meuampar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no GitHub ↗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Arquitetura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O core decide, o firmware executa</a:t>
            </a:r>
            <a:endParaRPr lang="en-US" sz="2600" dirty="0"/>
          </a:p>
        </p:txBody>
      </p:sp>
      <p:sp>
        <p:nvSpPr>
          <p:cNvPr id="4" name="c-core"/>
          <p:cNvSpPr/>
          <p:nvPr/>
        </p:nvSpPr>
        <p:spPr>
          <a:xfrm>
            <a:off x="457200" y="118872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5" name="c-core-ic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02787F"/>
          </a:solidFill>
          <a:ln w="12700">
            <a:solidFill>
              <a:srgbClr val="02787F"/>
            </a:solidFill>
            <a:prstDash val="solid"/>
          </a:ln>
        </p:spPr>
      </p:sp>
      <p:pic>
        <p:nvPicPr>
          <p:cNvPr id="6" name="Image 0" descr="c-core-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4018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325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7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</a:t>
            </a:r>
            <a:pPr indent="0" marL="0">
              <a:buNone/>
            </a:pPr>
            <a:r>
              <a:rPr lang="en-US" sz="1600" b="1" dirty="0">
                <a:solidFill>
                  <a:srgbClr val="1F2A2E"/>
                </a:solidFill>
              </a:rPr>
              <a:t>  decide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8745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</a:rPr>
              <a:t>C puro, sem nenhum header do ESP-IDF: detector de queda, máquina de estados, área segura e formato do alerta.</a:t>
            </a:r>
            <a:endParaRPr lang="en-US" sz="1200" dirty="0"/>
          </a:p>
        </p:txBody>
      </p:sp>
      <p:sp>
        <p:nvSpPr>
          <p:cNvPr id="9" name="c-fw"/>
          <p:cNvSpPr/>
          <p:nvPr/>
        </p:nvSpPr>
        <p:spPr>
          <a:xfrm>
            <a:off x="4663440" y="118872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10" name="c-fw-ic"/>
          <p:cNvSpPr/>
          <p:nvPr/>
        </p:nvSpPr>
        <p:spPr>
          <a:xfrm>
            <a:off x="4846320" y="1325880"/>
            <a:ext cx="457200" cy="457200"/>
          </a:xfrm>
          <a:prstGeom prst="ellipse">
            <a:avLst/>
          </a:prstGeom>
          <a:solidFill>
            <a:srgbClr val="DA624E"/>
          </a:solidFill>
          <a:ln w="12700">
            <a:solidFill>
              <a:srgbClr val="DA624E"/>
            </a:solidFill>
            <a:prstDash val="solid"/>
          </a:ln>
        </p:spPr>
      </p:sp>
      <p:pic>
        <p:nvPicPr>
          <p:cNvPr id="11" name="Image 1" descr="c-fw-i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144018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40680" y="1325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A6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firmware/</a:t>
            </a:r>
            <a:pPr indent="0" marL="0">
              <a:buNone/>
            </a:pPr>
            <a:r>
              <a:rPr lang="en-US" sz="1600" b="1" dirty="0">
                <a:solidFill>
                  <a:srgbClr val="1F2A2E"/>
                </a:solidFill>
              </a:rPr>
              <a:t>  executa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846320" y="18745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</a:rPr>
              <a:t>ESP-IDF: lê o MPU6050 por I2C e o botão, liga LED, buzzer e visor, envia o alerta. Sem mock nem cenário.</a:t>
            </a:r>
            <a:endParaRPr lang="en-US" sz="1200" dirty="0"/>
          </a:p>
        </p:txBody>
      </p:sp>
      <p:sp>
        <p:nvSpPr>
          <p:cNvPr id="14" name="c-sim"/>
          <p:cNvSpPr/>
          <p:nvPr/>
        </p:nvSpPr>
        <p:spPr>
          <a:xfrm>
            <a:off x="457200" y="301752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94360" y="3127248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27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simulator/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2E"/>
                </a:solidFill>
              </a:rPr>
              <a:t>a bancada: circuito e cenários do Wokwi</a:t>
            </a:r>
            <a:endParaRPr lang="en-US" sz="1150" dirty="0"/>
          </a:p>
        </p:txBody>
      </p:sp>
      <p:sp>
        <p:nvSpPr>
          <p:cNvPr id="16" name="c-test"/>
          <p:cNvSpPr/>
          <p:nvPr/>
        </p:nvSpPr>
        <p:spPr>
          <a:xfrm>
            <a:off x="2514600" y="301752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2651760" y="3127248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27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2E"/>
                </a:solidFill>
              </a:rPr>
              <a:t>a prova: o core testado no computador</a:t>
            </a:r>
            <a:endParaRPr lang="en-US" sz="1150" dirty="0"/>
          </a:p>
        </p:txBody>
      </p:sp>
      <p:sp>
        <p:nvSpPr>
          <p:cNvPr id="18" name="c-why"/>
          <p:cNvSpPr/>
          <p:nvPr/>
        </p:nvSpPr>
        <p:spPr>
          <a:xfrm>
            <a:off x="4663440" y="30175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AF3F3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84632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787F"/>
                </a:solidFill>
              </a:rPr>
              <a:t>Por que dividimos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4846320" y="3429000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A2E"/>
                </a:solidFill>
              </a:rPr>
              <a:t>Medir o detector contra centenas de registros em segundos, no Mac, sem gravar a placa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A2E"/>
                </a:solidFill>
              </a:rPr>
              <a:t>O mesmo .c compila nos dois lados: components/meuamparo_core aponta para core/src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A2E"/>
                </a:solidFill>
              </a:rPr>
              <a:t>Trocar placa, visor ou transporte não mexe na lógica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4.2 Desenvolver o sistema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O que usamos</a:t>
            </a:r>
            <a:endParaRPr lang="en-US" sz="2600" dirty="0"/>
          </a:p>
        </p:txBody>
      </p:sp>
      <p:sp>
        <p:nvSpPr>
          <p:cNvPr id="4" name="tool-0"/>
          <p:cNvSpPr/>
          <p:nvPr/>
        </p:nvSpPr>
        <p:spPr>
          <a:xfrm>
            <a:off x="457200" y="118872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5" name="tool-ic-0"/>
          <p:cNvSpPr/>
          <p:nvPr/>
        </p:nvSpPr>
        <p:spPr>
          <a:xfrm>
            <a:off x="658368" y="1389888"/>
            <a:ext cx="457200" cy="457200"/>
          </a:xfrm>
          <a:prstGeom prst="ellipse">
            <a:avLst/>
          </a:prstGeom>
          <a:solidFill>
            <a:srgbClr val="02787F"/>
          </a:solidFill>
          <a:ln w="12700">
            <a:solidFill>
              <a:srgbClr val="02787F"/>
            </a:solidFill>
            <a:prstDash val="solid"/>
          </a:ln>
        </p:spPr>
      </p:sp>
      <p:pic>
        <p:nvPicPr>
          <p:cNvPr id="6" name="Image 0" descr="tool-ic-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" y="1504188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8368" y="193852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E"/>
                </a:solidFill>
              </a:rPr>
              <a:t>C11 + ESP-IDF v5.5.5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21284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78"/>
                </a:solidFill>
              </a:rPr>
              <a:t>framework oficial da Espressif para o ESP32</a:t>
            </a:r>
            <a:endParaRPr lang="en-US" sz="1050" dirty="0"/>
          </a:p>
        </p:txBody>
      </p:sp>
      <p:sp>
        <p:nvSpPr>
          <p:cNvPr id="9" name="tool-1"/>
          <p:cNvSpPr/>
          <p:nvPr/>
        </p:nvSpPr>
        <p:spPr>
          <a:xfrm>
            <a:off x="3246120" y="118872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10" name="tool-ic-1"/>
          <p:cNvSpPr/>
          <p:nvPr/>
        </p:nvSpPr>
        <p:spPr>
          <a:xfrm>
            <a:off x="3447288" y="1389888"/>
            <a:ext cx="457200" cy="457200"/>
          </a:xfrm>
          <a:prstGeom prst="ellipse">
            <a:avLst/>
          </a:prstGeom>
          <a:solidFill>
            <a:srgbClr val="02787F"/>
          </a:solidFill>
          <a:ln w="12700">
            <a:solidFill>
              <a:srgbClr val="02787F"/>
            </a:solidFill>
            <a:prstDash val="solid"/>
          </a:ln>
        </p:spPr>
      </p:sp>
      <p:pic>
        <p:nvPicPr>
          <p:cNvPr id="11" name="Image 1" descr="tool-ic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588" y="1504188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47288" y="193852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E"/>
                </a:solidFill>
              </a:rPr>
              <a:t>ESP32-S3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3447288" y="221284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78"/>
                </a:solidFill>
              </a:rPr>
              <a:t>devkit no simulador; Waveshare SIM7670G no projeto</a:t>
            </a:r>
            <a:endParaRPr lang="en-US" sz="1050" dirty="0"/>
          </a:p>
        </p:txBody>
      </p:sp>
      <p:sp>
        <p:nvSpPr>
          <p:cNvPr id="14" name="tool-2"/>
          <p:cNvSpPr/>
          <p:nvPr/>
        </p:nvSpPr>
        <p:spPr>
          <a:xfrm>
            <a:off x="6035040" y="118872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15" name="tool-ic-2"/>
          <p:cNvSpPr/>
          <p:nvPr/>
        </p:nvSpPr>
        <p:spPr>
          <a:xfrm>
            <a:off x="6236208" y="1389888"/>
            <a:ext cx="457200" cy="457200"/>
          </a:xfrm>
          <a:prstGeom prst="ellipse">
            <a:avLst/>
          </a:prstGeom>
          <a:solidFill>
            <a:srgbClr val="6FA8AC"/>
          </a:solidFill>
          <a:ln w="12700">
            <a:solidFill>
              <a:srgbClr val="6FA8AC"/>
            </a:solidFill>
            <a:prstDash val="solid"/>
          </a:ln>
        </p:spPr>
      </p:sp>
      <p:pic>
        <p:nvPicPr>
          <p:cNvPr id="16" name="Image 2" descr="tool-ic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508" y="1504188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36208" y="193852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E"/>
                </a:solidFill>
              </a:rPr>
              <a:t>wokwi-cli 0.26.1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236208" y="221284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78"/>
                </a:solidFill>
              </a:rPr>
              <a:t>roda o firmware real no Wokwi, sem tela, nos cenários</a:t>
            </a:r>
            <a:endParaRPr lang="en-US" sz="1050" dirty="0"/>
          </a:p>
        </p:txBody>
      </p:sp>
      <p:sp>
        <p:nvSpPr>
          <p:cNvPr id="19" name="tool-3"/>
          <p:cNvSpPr/>
          <p:nvPr/>
        </p:nvSpPr>
        <p:spPr>
          <a:xfrm>
            <a:off x="457200" y="288036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20" name="tool-ic-3"/>
          <p:cNvSpPr/>
          <p:nvPr/>
        </p:nvSpPr>
        <p:spPr>
          <a:xfrm>
            <a:off x="658368" y="3081528"/>
            <a:ext cx="457200" cy="457200"/>
          </a:xfrm>
          <a:prstGeom prst="ellipse">
            <a:avLst/>
          </a:prstGeom>
          <a:solidFill>
            <a:srgbClr val="6FA8AC"/>
          </a:solidFill>
          <a:ln w="12700">
            <a:solidFill>
              <a:srgbClr val="6FA8AC"/>
            </a:solidFill>
            <a:prstDash val="solid"/>
          </a:ln>
        </p:spPr>
      </p:sp>
      <p:pic>
        <p:nvPicPr>
          <p:cNvPr id="21" name="Image 3" descr="tool-ic-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" y="3195828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8368" y="36301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E"/>
                </a:solidFill>
              </a:rPr>
              <a:t>Wokwi for VS Code 4.1.0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658368" y="390448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78"/>
                </a:solidFill>
              </a:rPr>
              <a:t>o mesmo circuito na tela, para ver e interagir</a:t>
            </a:r>
            <a:endParaRPr lang="en-US" sz="1050" dirty="0"/>
          </a:p>
        </p:txBody>
      </p:sp>
      <p:sp>
        <p:nvSpPr>
          <p:cNvPr id="24" name="tool-4"/>
          <p:cNvSpPr/>
          <p:nvPr/>
        </p:nvSpPr>
        <p:spPr>
          <a:xfrm>
            <a:off x="3246120" y="288036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25" name="tool-ic-4"/>
          <p:cNvSpPr/>
          <p:nvPr/>
        </p:nvSpPr>
        <p:spPr>
          <a:xfrm>
            <a:off x="3447288" y="3081528"/>
            <a:ext cx="457200" cy="457200"/>
          </a:xfrm>
          <a:prstGeom prst="ellipse">
            <a:avLst/>
          </a:prstGeom>
          <a:solidFill>
            <a:srgbClr val="DA624E"/>
          </a:solidFill>
          <a:ln w="12700">
            <a:solidFill>
              <a:srgbClr val="DA624E"/>
            </a:solidFill>
            <a:prstDash val="solid"/>
          </a:ln>
        </p:spPr>
      </p:sp>
      <p:pic>
        <p:nvPicPr>
          <p:cNvPr id="26" name="Image 4" descr="tool-ic-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1588" y="3195828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447288" y="36301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E"/>
                </a:solidFill>
              </a:rPr>
              <a:t>Make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3447288" y="390448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78"/>
                </a:solidFill>
              </a:rPr>
              <a:t>um comando para testar, compilar e simular</a:t>
            </a:r>
            <a:endParaRPr lang="en-US" sz="1050" dirty="0"/>
          </a:p>
        </p:txBody>
      </p:sp>
      <p:sp>
        <p:nvSpPr>
          <p:cNvPr id="29" name="tool-5"/>
          <p:cNvSpPr/>
          <p:nvPr/>
        </p:nvSpPr>
        <p:spPr>
          <a:xfrm>
            <a:off x="6035040" y="288036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30" name="tool-ic-5"/>
          <p:cNvSpPr/>
          <p:nvPr/>
        </p:nvSpPr>
        <p:spPr>
          <a:xfrm>
            <a:off x="6236208" y="3081528"/>
            <a:ext cx="457200" cy="457200"/>
          </a:xfrm>
          <a:prstGeom prst="ellipse">
            <a:avLst/>
          </a:prstGeom>
          <a:solidFill>
            <a:srgbClr val="DA624E"/>
          </a:solidFill>
          <a:ln w="12700">
            <a:solidFill>
              <a:srgbClr val="DA624E"/>
            </a:solidFill>
            <a:prstDash val="solid"/>
          </a:ln>
        </p:spPr>
      </p:sp>
      <p:pic>
        <p:nvPicPr>
          <p:cNvPr id="31" name="Image 5" descr="tool-ic-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508" y="3195828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236208" y="36301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E"/>
                </a:solidFill>
              </a:rPr>
              <a:t>GitHub + GPL v3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6236208" y="390448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78"/>
                </a:solidFill>
              </a:rPr>
              <a:t>issues e quadro do projeto; código aberto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4.2.3 Programa em linguagem C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Detector de queda em três fases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43000"/>
          <a:ext cx="53949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ph-1"/>
          <p:cNvSpPr/>
          <p:nvPr/>
        </p:nvSpPr>
        <p:spPr>
          <a:xfrm>
            <a:off x="6035040" y="1325880"/>
            <a:ext cx="457200" cy="457200"/>
          </a:xfrm>
          <a:prstGeom prst="ellipse">
            <a:avLst/>
          </a:prstGeom>
          <a:solidFill>
            <a:srgbClr val="02787F"/>
          </a:solidFill>
          <a:ln w="12700">
            <a:solidFill>
              <a:srgbClr val="02787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50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629400" y="12801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E"/>
                </a:solidFill>
              </a:rPr>
              <a:t>Queda livre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629400" y="1572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78"/>
                </a:solidFill>
              </a:rPr>
              <a:t>abaixo de 0,5 g por 60 ms</a:t>
            </a:r>
            <a:endParaRPr lang="en-US" sz="1200" dirty="0"/>
          </a:p>
        </p:txBody>
      </p:sp>
      <p:sp>
        <p:nvSpPr>
          <p:cNvPr id="9" name="ph-2"/>
          <p:cNvSpPr/>
          <p:nvPr/>
        </p:nvSpPr>
        <p:spPr>
          <a:xfrm>
            <a:off x="6035040" y="2286000"/>
            <a:ext cx="457200" cy="457200"/>
          </a:xfrm>
          <a:prstGeom prst="ellipse">
            <a:avLst/>
          </a:prstGeom>
          <a:solidFill>
            <a:srgbClr val="DA624E"/>
          </a:solidFill>
          <a:ln w="12700">
            <a:solidFill>
              <a:srgbClr val="DA624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350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E"/>
                </a:solidFill>
              </a:rPr>
              <a:t>Impacto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629400" y="2532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78"/>
                </a:solidFill>
              </a:rPr>
              <a:t>acima de 2,5 g em até 1 s</a:t>
            </a:r>
            <a:endParaRPr lang="en-US" sz="1200" dirty="0"/>
          </a:p>
        </p:txBody>
      </p:sp>
      <p:sp>
        <p:nvSpPr>
          <p:cNvPr id="13" name="ph-3"/>
          <p:cNvSpPr/>
          <p:nvPr/>
        </p:nvSpPr>
        <p:spPr>
          <a:xfrm>
            <a:off x="6035040" y="3246120"/>
            <a:ext cx="457200" cy="457200"/>
          </a:xfrm>
          <a:prstGeom prst="ellipse">
            <a:avLst/>
          </a:prstGeom>
          <a:solidFill>
            <a:srgbClr val="02787F"/>
          </a:solidFill>
          <a:ln w="12700">
            <a:solidFill>
              <a:srgbClr val="02787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0350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629400" y="32004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E"/>
                </a:solidFill>
              </a:rPr>
              <a:t>Imobilidade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629400" y="3493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78"/>
                </a:solidFill>
              </a:rPr>
              <a:t>perto de 1 g por 1,5 s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035040" y="4114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A624E"/>
                </a:solidFill>
              </a:rPr>
              <a:t>Pulo também tem 1 e 2. A fase 3 separa queda de pulo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core/src/fall.c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O código do detector</a:t>
            </a:r>
            <a:endParaRPr lang="en-US" sz="2600" dirty="0"/>
          </a:p>
        </p:txBody>
      </p:sp>
      <p:sp>
        <p:nvSpPr>
          <p:cNvPr id="4" name="code-bg"/>
          <p:cNvSpPr/>
          <p:nvPr/>
        </p:nvSpPr>
        <p:spPr>
          <a:xfrm>
            <a:off x="457200" y="1188720"/>
            <a:ext cx="5257800" cy="3429000"/>
          </a:xfrm>
          <a:prstGeom prst="roundRect">
            <a:avLst>
              <a:gd name="adj" fmla="val 1600"/>
            </a:avLst>
          </a:prstGeom>
          <a:solidFill>
            <a:srgbClr val="1E2528"/>
          </a:solidFill>
          <a:ln w="12700">
            <a:solidFill>
              <a:srgbClr val="1E2528"/>
            </a:solidFill>
            <a:prstDash val="solid"/>
          </a:ln>
        </p:spPr>
      </p:sp>
      <p:sp>
        <p:nvSpPr>
          <p:cNvPr id="5" name="code"/>
          <p:cNvSpPr txBox="1"/>
          <p:nvPr/>
        </p:nvSpPr>
        <p:spPr>
          <a:xfrm>
            <a:off x="566928" y="1280160"/>
            <a:ext cx="503834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  </a:t>
            </a:r>
            <a:pPr indent="0" marL="0">
              <a:buNone/>
            </a:pPr>
            <a:r>
              <a:rPr lang="en-US" sz="95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MA_FALL_AWAIT_IMPACT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  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(mag &gt;= c-&gt;impact_g)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  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(d, </a:t>
            </a:r>
            <a:pPr indent="0" marL="0">
              <a:buNone/>
            </a:pPr>
            <a:r>
              <a:rPr lang="en-US" sz="95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MA_FALL_SETTLE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  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</a:t>
            </a:r>
            <a:pPr indent="0" marL="0">
              <a:buNone/>
            </a:pPr>
            <a:r>
              <a:rPr lang="en-US" sz="95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(elapsed &gt; c-&gt;impact_window_ms)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  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(d, </a:t>
            </a:r>
            <a:pPr indent="0" marL="0">
              <a:buNone/>
            </a:pPr>
            <a:r>
              <a:rPr lang="en-US" sz="95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MA_FALL_IDLE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  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  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8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79  </a:t>
            </a:r>
            <a:pPr indent="0" marL="0">
              <a:buNone/>
            </a:pPr>
            <a:r>
              <a:rPr lang="en-US" sz="95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MA_FALL_STILLNESS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 </a:t>
            </a:r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/* Qualquer movimento cancela: a pessoa levantou ou nunca caiu de fato. */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  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fabsf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(mag - </a:t>
            </a:r>
            <a:pPr indent="0" marL="0"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1.0f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&gt; c-&gt;stillness_tol_g)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  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(d, </a:t>
            </a:r>
            <a:pPr indent="0" marL="0">
              <a:buNone/>
            </a:pPr>
            <a:r>
              <a:rPr lang="en-US" sz="95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MA_FALL_IDLE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83  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5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  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  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(elapsed &gt;= c-&gt;stillness_ms)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86  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(d, </a:t>
            </a:r>
            <a:pPr indent="0" marL="0">
              <a:buNone/>
            </a:pPr>
            <a:r>
              <a:rPr lang="en-US" sz="95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MA_FALL_IDLE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87  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5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  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  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65429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core/src/fall.c, linhas 65–71 e 79–89</a:t>
            </a:r>
            <a:endParaRPr lang="en-US" sz="900" dirty="0"/>
          </a:p>
        </p:txBody>
      </p:sp>
      <p:sp>
        <p:nvSpPr>
          <p:cNvPr id="7" name="gh-link"/>
          <p:cNvSpPr txBox="1"/>
          <p:nvPr/>
        </p:nvSpPr>
        <p:spPr>
          <a:xfrm>
            <a:off x="4526280" y="46542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u="sng" dirty="0">
                <a:solidFill>
                  <a:srgbClr val="02787F"/>
                </a:solidFill>
                <a:hlinkClick r:id="rId1" invalidUrl="" action="" tgtFrame="" tooltip="https://github.com/gustavomoda/MeuAmparo/blob/main/src/meuamparo/core/src/fall.c#L65-L8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no GitHub ↗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98932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787F"/>
                </a:solidFill>
              </a:rPr>
              <a:t>50 amostras por segundo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160934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</a:rPr>
              <a:t>cada uma passa por ma_fall_update()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98932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787F"/>
                </a:solidFill>
              </a:rPr>
              <a:t>Cada fase tem tempo limite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270662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</a:rPr>
              <a:t>sem impacto em 1 s, volta ao início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787F"/>
                </a:solidFill>
              </a:rPr>
              <a:t>Devolve true uma única vez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989320" y="380390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</a:rPr>
              <a:t>na amostra que confirma a queda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core/src/device.c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O que o dispositivo faz depois</a:t>
            </a:r>
            <a:endParaRPr lang="en-US" sz="2600" dirty="0"/>
          </a:p>
        </p:txBody>
      </p:sp>
      <p:sp>
        <p:nvSpPr>
          <p:cNvPr id="4" name="st-Monitorando"/>
          <p:cNvSpPr/>
          <p:nvPr/>
        </p:nvSpPr>
        <p:spPr>
          <a:xfrm>
            <a:off x="457200" y="2377440"/>
            <a:ext cx="21031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377440"/>
            <a:ext cx="210312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2E"/>
                </a:solidFill>
              </a:rPr>
              <a:t>Monitorando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A2E"/>
                </a:solidFill>
              </a:rPr>
              <a:t>lendo sensor e botão</a:t>
            </a:r>
            <a:endParaRPr lang="en-US" sz="1500" dirty="0"/>
          </a:p>
        </p:txBody>
      </p:sp>
      <p:sp>
        <p:nvSpPr>
          <p:cNvPr id="6" name="st-mon-border"/>
          <p:cNvSpPr/>
          <p:nvPr/>
        </p:nvSpPr>
        <p:spPr>
          <a:xfrm>
            <a:off x="457200" y="2377440"/>
            <a:ext cx="2103120" cy="868680"/>
          </a:xfrm>
          <a:prstGeom prst="roundRect">
            <a:avLst>
              <a:gd name="adj" fmla="val 10526"/>
            </a:avLst>
          </a:prstGeom>
          <a:ln w="19050">
            <a:solidFill>
              <a:srgbClr val="02787F"/>
            </a:solidFill>
            <a:prstDash val="solid"/>
          </a:ln>
        </p:spPr>
      </p:sp>
      <p:sp>
        <p:nvSpPr>
          <p:cNvPr id="7" name="st-Queda pendente"/>
          <p:cNvSpPr/>
          <p:nvPr/>
        </p:nvSpPr>
        <p:spPr>
          <a:xfrm>
            <a:off x="3520440" y="1188720"/>
            <a:ext cx="2103120" cy="868680"/>
          </a:xfrm>
          <a:prstGeom prst="roundRect">
            <a:avLst>
              <a:gd name="adj" fmla="val 10526"/>
            </a:avLst>
          </a:prstGeom>
          <a:solidFill>
            <a:srgbClr val="F2B8AC"/>
          </a:solidFill>
          <a:ln w="12700">
            <a:solidFill>
              <a:srgbClr val="F2B8A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188720"/>
            <a:ext cx="210312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2E"/>
                </a:solidFill>
              </a:rPr>
              <a:t>Queda pendente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A2E"/>
                </a:solidFill>
              </a:rPr>
              <a:t>LED e buzzer piscam 10 s</a:t>
            </a:r>
            <a:endParaRPr lang="en-US" sz="1500" dirty="0"/>
          </a:p>
        </p:txBody>
      </p:sp>
      <p:sp>
        <p:nvSpPr>
          <p:cNvPr id="9" name="st-Alarme"/>
          <p:cNvSpPr/>
          <p:nvPr/>
        </p:nvSpPr>
        <p:spPr>
          <a:xfrm>
            <a:off x="6583680" y="2377440"/>
            <a:ext cx="2103120" cy="868680"/>
          </a:xfrm>
          <a:prstGeom prst="roundRect">
            <a:avLst>
              <a:gd name="adj" fmla="val 10526"/>
            </a:avLst>
          </a:prstGeom>
          <a:solidFill>
            <a:srgbClr val="DA624E"/>
          </a:solidFill>
          <a:ln w="12700">
            <a:solidFill>
              <a:srgbClr val="DA624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2377440"/>
            <a:ext cx="210312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Alarme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alerta enviado; 5 s depois volta</a:t>
            </a:r>
            <a:endParaRPr lang="en-US" sz="1500" dirty="0"/>
          </a:p>
        </p:txBody>
      </p:sp>
      <p:sp>
        <p:nvSpPr>
          <p:cNvPr id="11" name="a-fall"/>
          <p:cNvSpPr/>
          <p:nvPr/>
        </p:nvSpPr>
        <p:spPr>
          <a:xfrm flipV="1">
            <a:off x="1508760" y="1417320"/>
            <a:ext cx="2011680" cy="960120"/>
          </a:xfrm>
          <a:prstGeom prst="line">
            <a:avLst/>
          </a:prstGeom>
          <a:noFill/>
          <a:ln w="19050">
            <a:solidFill>
              <a:srgbClr val="6B7478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1097280" y="1554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2E"/>
                </a:solidFill>
              </a:rPr>
              <a:t>queda</a:t>
            </a:r>
            <a:endParaRPr lang="en-US" sz="1100" dirty="0"/>
          </a:p>
        </p:txBody>
      </p:sp>
      <p:sp>
        <p:nvSpPr>
          <p:cNvPr id="13" name="a-cancel"/>
          <p:cNvSpPr/>
          <p:nvPr/>
        </p:nvSpPr>
        <p:spPr>
          <a:xfrm flipH="1">
            <a:off x="2377440" y="1783080"/>
            <a:ext cx="1143000" cy="594360"/>
          </a:xfrm>
          <a:prstGeom prst="line">
            <a:avLst/>
          </a:prstGeom>
          <a:noFill/>
          <a:ln w="19050">
            <a:solidFill>
              <a:srgbClr val="6B7478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3017520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787F"/>
                </a:solidFill>
              </a:rPr>
              <a:t>botão: cancela</a:t>
            </a:r>
            <a:endParaRPr lang="en-US" sz="1100" dirty="0"/>
          </a:p>
        </p:txBody>
      </p:sp>
      <p:sp>
        <p:nvSpPr>
          <p:cNvPr id="15" name="a-timeout"/>
          <p:cNvSpPr/>
          <p:nvPr/>
        </p:nvSpPr>
        <p:spPr>
          <a:xfrm>
            <a:off x="5623560" y="1600200"/>
            <a:ext cx="1325880" cy="777240"/>
          </a:xfrm>
          <a:prstGeom prst="line">
            <a:avLst/>
          </a:prstGeom>
          <a:noFill/>
          <a:ln w="19050">
            <a:solidFill>
              <a:srgbClr val="6B7478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6172200" y="1600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2E"/>
                </a:solidFill>
              </a:rPr>
              <a:t>10 s sem botão</a:t>
            </a:r>
            <a:endParaRPr lang="en-US" sz="1100" dirty="0"/>
          </a:p>
        </p:txBody>
      </p:sp>
      <p:sp>
        <p:nvSpPr>
          <p:cNvPr id="17" name="a-panic"/>
          <p:cNvSpPr/>
          <p:nvPr/>
        </p:nvSpPr>
        <p:spPr>
          <a:xfrm>
            <a:off x="2560320" y="2697480"/>
            <a:ext cx="4023360" cy="914"/>
          </a:xfrm>
          <a:prstGeom prst="line">
            <a:avLst/>
          </a:prstGeom>
          <a:noFill/>
          <a:ln w="19050">
            <a:solidFill>
              <a:srgbClr val="6B7478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3657600" y="2423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A624E"/>
                </a:solidFill>
              </a:rPr>
              <a:t>botão: pedido de ajuda, sem espera</a:t>
            </a:r>
            <a:endParaRPr lang="en-US" sz="1100" dirty="0"/>
          </a:p>
        </p:txBody>
      </p:sp>
      <p:sp>
        <p:nvSpPr>
          <p:cNvPr id="19" name="a-geo"/>
          <p:cNvSpPr/>
          <p:nvPr/>
        </p:nvSpPr>
        <p:spPr>
          <a:xfrm>
            <a:off x="2560320" y="3017520"/>
            <a:ext cx="4023360" cy="914"/>
          </a:xfrm>
          <a:prstGeom prst="line">
            <a:avLst/>
          </a:prstGeom>
          <a:noFill/>
          <a:ln w="19050">
            <a:solidFill>
              <a:srgbClr val="6B7478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2926080" y="3063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2E"/>
                </a:solidFill>
              </a:rPr>
              <a:t>saída da área segura: só LED</a:t>
            </a:r>
            <a:endParaRPr lang="en-US" sz="1100" dirty="0"/>
          </a:p>
        </p:txBody>
      </p:sp>
      <p:sp>
        <p:nvSpPr>
          <p:cNvPr id="21" name="why"/>
          <p:cNvSpPr/>
          <p:nvPr/>
        </p:nvSpPr>
        <p:spPr>
          <a:xfrm>
            <a:off x="457200" y="379476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38404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</a:rPr>
              <a:t>A janela de 10 s deixa a própria pessoa cancelar um alarme falso, sem depender de afinar limiar.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core/src/device.c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 janela de cancelamento no código</a:t>
            </a:r>
            <a:endParaRPr lang="en-US" sz="2600" dirty="0"/>
          </a:p>
        </p:txBody>
      </p:sp>
      <p:sp>
        <p:nvSpPr>
          <p:cNvPr id="4" name="code-bg"/>
          <p:cNvSpPr/>
          <p:nvPr/>
        </p:nvSpPr>
        <p:spPr>
          <a:xfrm>
            <a:off x="457200" y="1188720"/>
            <a:ext cx="5394960" cy="3429000"/>
          </a:xfrm>
          <a:prstGeom prst="roundRect">
            <a:avLst>
              <a:gd name="adj" fmla="val 1600"/>
            </a:avLst>
          </a:prstGeom>
          <a:solidFill>
            <a:srgbClr val="1E2528"/>
          </a:solidFill>
          <a:ln w="12700">
            <a:solidFill>
              <a:srgbClr val="1E2528"/>
            </a:solidFill>
            <a:prstDash val="solid"/>
          </a:ln>
        </p:spPr>
      </p:sp>
      <p:sp>
        <p:nvSpPr>
          <p:cNvPr id="5" name="code"/>
          <p:cNvSpPr txBox="1"/>
          <p:nvPr/>
        </p:nvSpPr>
        <p:spPr>
          <a:xfrm>
            <a:off x="566928" y="1280160"/>
            <a:ext cx="517550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(in.button)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raise_alarm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(d, t, &amp;out, </a:t>
            </a:r>
            <a:pPr indent="0" marL="0">
              <a:buNone/>
            </a:pPr>
            <a:r>
              <a:rPr lang="en-US" sz="90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MA_ALERT_PANIC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90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</a:t>
            </a:r>
            <a:pPr indent="0" marL="0">
              <a:buNone/>
            </a:pPr>
            <a:r>
              <a:rPr lang="en-US" sz="90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(in.fall)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0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(d-&gt;cfg.cancel_window_ms == </a:t>
            </a:r>
            <a:pPr indent="0" marL="0">
              <a:buNone/>
            </a:pP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raise_alarm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(d, t, &amp;out, </a:t>
            </a:r>
            <a:pPr indent="0" marL="0">
              <a:buNone/>
            </a:pPr>
            <a:r>
              <a:rPr lang="en-US" sz="90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MA_ALERT_FALL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90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</a:t>
            </a:r>
            <a:pPr indent="0" marL="0">
              <a:buNone/>
            </a:pPr>
            <a:r>
              <a:rPr lang="en-US" sz="90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d-&gt;state = </a:t>
            </a:r>
            <a:pPr indent="0" marL="0">
              <a:buNone/>
            </a:pPr>
            <a:r>
              <a:rPr lang="en-US" sz="90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MA_DEV_FALL_PENDING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d-&gt;t_state = 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</a:t>
            </a:r>
            <a:pPr indent="0" marL="0">
              <a:buNone/>
            </a:pPr>
            <a:r>
              <a:rPr lang="en-US" sz="90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(in.geofence_exit)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raise_alarm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(d, t, &amp;out, </a:t>
            </a:r>
            <a:pPr indent="0" marL="0">
              <a:buNone/>
            </a:pPr>
            <a:r>
              <a:rPr lang="en-US" sz="90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MA_ALERT_GEOFENCE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90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A8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  </a:t>
            </a:r>
            <a:pPr indent="0" marL="0">
              <a:buNone/>
            </a:pPr>
            <a:r>
              <a:rPr lang="en-US" sz="90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MA_DEV_FALL_PENDING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(in.button)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d-&gt;state = </a:t>
            </a:r>
            <a:pPr indent="0" marL="0">
              <a:buNone/>
            </a:pPr>
            <a:r>
              <a:rPr lang="en-US" sz="90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MA_DEV_MONITORING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d-&gt;t_state = 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out.cancelled = </a:t>
            </a:r>
            <a:pPr indent="0" marL="0">
              <a:buNone/>
            </a:pPr>
            <a:r>
              <a:rPr lang="en-US" sz="90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</a:t>
            </a:r>
            <a:pPr indent="0" marL="0">
              <a:buNone/>
            </a:pPr>
            <a:r>
              <a:rPr lang="en-US" sz="90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(elapsed &gt;= d-&gt;cfg.cancel_window_ms)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raise_alarm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(d, t, &amp;out, </a:t>
            </a:r>
            <a:pPr indent="0" marL="0">
              <a:buNone/>
            </a:pPr>
            <a:r>
              <a:rPr lang="en-US" sz="90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MA_ALERT_FALL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90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65429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core/src/device.c, linhas 40–52 e 54–62</a:t>
            </a:r>
            <a:endParaRPr lang="en-US" sz="900" dirty="0"/>
          </a:p>
        </p:txBody>
      </p:sp>
      <p:sp>
        <p:nvSpPr>
          <p:cNvPr id="7" name="gh-link"/>
          <p:cNvSpPr txBox="1"/>
          <p:nvPr/>
        </p:nvSpPr>
        <p:spPr>
          <a:xfrm>
            <a:off x="4663440" y="46542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u="sng" dirty="0">
                <a:solidFill>
                  <a:srgbClr val="02787F"/>
                </a:solidFill>
                <a:hlinkClick r:id="rId1" invalidUrl="" action="" tgtFrame="" tooltip="https://github.com/gustavomoda/MeuAmparo/blob/main/src/meuamparo/core/src/device.c#L40-L62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no GitHub ↗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280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787F"/>
                </a:solidFill>
              </a:rPr>
              <a:t>Linhas 40 a 41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1609344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</a:rPr>
              <a:t>botão em monitoramento: alerta de ajuda na hora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23774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787F"/>
                </a:solidFill>
              </a:rPr>
              <a:t>Linhas 42 a 48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706624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</a:rPr>
              <a:t>queda abre a janela; com janela zero, alerta direto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34747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787F"/>
                </a:solidFill>
              </a:rPr>
              <a:t>Linhas 55 a 61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3803904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</a:rPr>
              <a:t>botão na janela cancela; sem botão, alerta de queda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firmware/main/main.c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Firmware fino: lê, entrega ao core, obedece</a:t>
            </a:r>
            <a:endParaRPr lang="en-US" sz="2600" dirty="0"/>
          </a:p>
        </p:txBody>
      </p:sp>
      <p:sp>
        <p:nvSpPr>
          <p:cNvPr id="4" name="code-bg"/>
          <p:cNvSpPr/>
          <p:nvPr/>
        </p:nvSpPr>
        <p:spPr>
          <a:xfrm>
            <a:off x="457200" y="1188720"/>
            <a:ext cx="5394960" cy="2715768"/>
          </a:xfrm>
          <a:prstGeom prst="roundRect">
            <a:avLst>
              <a:gd name="adj" fmla="val 2020"/>
            </a:avLst>
          </a:prstGeom>
          <a:solidFill>
            <a:srgbClr val="1E2528"/>
          </a:solidFill>
          <a:ln w="12700">
            <a:solidFill>
              <a:srgbClr val="1E2528"/>
            </a:solidFill>
            <a:prstDash val="solid"/>
          </a:ln>
        </p:spPr>
      </p:sp>
      <p:sp>
        <p:nvSpPr>
          <p:cNvPr id="5" name="code"/>
          <p:cNvSpPr txBox="1"/>
          <p:nvPr/>
        </p:nvSpPr>
        <p:spPr>
          <a:xfrm>
            <a:off x="566928" y="1280160"/>
            <a:ext cx="5175504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220  </a:t>
            </a:r>
            <a:pPr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ma_device_input_t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 =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221  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.fall = </a:t>
            </a:r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ma_fall_update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(&amp;fall, &amp;s),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222  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.button = </a:t>
            </a:r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button_pressed_edge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223  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224  </a:t>
            </a:r>
            <a:pPr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ma_geo_point_t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225  </a:t>
            </a:r>
            <a:pPr indent="0" marL="0">
              <a:buNone/>
            </a:pPr>
            <a:r>
              <a:rPr lang="en-US" sz="95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ma_position_get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(&amp;pos))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226  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in.geofence_exit = </a:t>
            </a:r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ma_geofence_update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(&amp;fence, &amp;pos);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227  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228  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229  </a:t>
            </a:r>
            <a:pPr indent="0" marL="0">
              <a:buNone/>
            </a:pPr>
            <a:r>
              <a:rPr lang="en-US" sz="95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ma_device_output_t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out = </a:t>
            </a:r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ma_device_step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(&amp;dev, t, in);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230  </a:t>
            </a:r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ma_indicators_set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(out.led, out.buzzer);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8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272  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banner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(what[out.kind], 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"mensagem com tipo, hora e posicao:"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273  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send_alert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(out.kind, t);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274  </a:t>
            </a:r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94106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firmware/main/main.c, linhas 220–230 e 272–274</a:t>
            </a:r>
            <a:endParaRPr lang="en-US" sz="900" dirty="0"/>
          </a:p>
        </p:txBody>
      </p:sp>
      <p:sp>
        <p:nvSpPr>
          <p:cNvPr id="7" name="gh-link"/>
          <p:cNvSpPr txBox="1"/>
          <p:nvPr/>
        </p:nvSpPr>
        <p:spPr>
          <a:xfrm>
            <a:off x="4663440" y="394106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u="sng" dirty="0">
                <a:solidFill>
                  <a:srgbClr val="02787F"/>
                </a:solidFill>
                <a:hlinkClick r:id="rId1" invalidUrl="" action="" tgtFrame="" tooltip="https://github.com/gustavomoda/MeuAmparo/blob/main/src/meuamparo/firmware/main/main.c#L220-L274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no GitHub ↗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234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7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mpu6050.c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149961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E"/>
                </a:solidFill>
              </a:rPr>
              <a:t>I2C, faixa de ±8 g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18562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7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indicators.c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1214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E"/>
                </a:solidFill>
              </a:rPr>
              <a:t>LED e buzzer por PWM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4780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7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display.c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7432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E"/>
                </a:solidFill>
              </a:rPr>
              <a:t>visor OLED 128x64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30998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7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position.c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33649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E"/>
                </a:solidFill>
              </a:rPr>
              <a:t>posição fixa, sem GNSS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37216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7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transport_serial.c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398678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E"/>
                </a:solidFill>
              </a:rPr>
              <a:t>alerta no serial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7365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78"/>
                </a:solidFill>
              </a:rPr>
              <a:t>A cada 20 ms: lê sensor e botão, chama o core, liga LED, buzzer e visor, envia o alerta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4.2.2 Montagem do circuito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Circuito e pinos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7607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057400"/>
                <a:gridCol w="22860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Componente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78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Função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78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Ligação no ESP32-S3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787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</a:rPr>
                        <a:t>MPU6050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</a:rPr>
                        <a:t>aceleração e rotação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</a:rPr>
                        <a:t>I2C 0x68: SDA 8, SCL 9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</a:rPr>
                        <a:t>OLED SSD1306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</a:rPr>
                        <a:t>visor 128x64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</a:rPr>
                        <a:t>I2C 0x3C: mesmo barramento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</a:rPr>
                        <a:t>Botão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</a:rPr>
                        <a:t>pedido de ajuda e cancelamento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</a:rPr>
                        <a:t>GPIO 4, pull-up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</a:rPr>
                        <a:t>Buzzer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</a:rPr>
                        <a:t>aviso sonoro, PWM 2 kHz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</a:rPr>
                        <a:t>GPIO 5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</a:rPr>
                        <a:t>LED + 330 Ω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</a:rPr>
                        <a:t>aviso visual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</a:rPr>
                        <a:t>GPIO 2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</a:rPr>
                        <a:t>Potenciômetro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</a:rPr>
                        <a:t>faz o papel da bateria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</a:rPr>
                        <a:t>GPIO 1, ADC1 canal 0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Visor OLED no Wokwi monitorando: logo, hora, bateria e carinha feliz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188720"/>
            <a:ext cx="2103120" cy="1051560"/>
          </a:xfrm>
          <a:prstGeom prst="rect">
            <a:avLst/>
          </a:prstGeom>
        </p:spPr>
      </p:pic>
      <p:pic>
        <p:nvPicPr>
          <p:cNvPr id="6" name="Image 1" descr="Visor OLED no Wokwi: QUEDA? Aperte o botao para cancelar: 8 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377440"/>
            <a:ext cx="2103120" cy="105156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537960" y="34930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478"/>
                </a:solidFill>
              </a:rPr>
              <a:t>Visor no Wokwi: monitorando e na janela de cancelamento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A2E"/>
                </a:solidFill>
              </a:rPr>
              <a:t>O OLED substitui o visor touch de 1,69" previsto, que o Wokwi não tem. </a:t>
            </a:r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</a:rPr>
              <a:t>Os pinos são do devkit: na Waveshare ESP32-S3-SIM7670G parte deles é do modem, e a pinagem precisa ser revista antes de montar.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457200" y="47365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78"/>
                </a:solidFill>
              </a:rPr>
              <a:t>Pinos em firmware/main/board.h; circuito em simulator/wokwi/diagram.json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Makefile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Um comando: make sim</a:t>
            </a:r>
            <a:endParaRPr lang="en-US" sz="2600" dirty="0"/>
          </a:p>
        </p:txBody>
      </p:sp>
      <p:sp>
        <p:nvSpPr>
          <p:cNvPr id="4" name="term-bg"/>
          <p:cNvSpPr/>
          <p:nvPr/>
        </p:nvSpPr>
        <p:spPr>
          <a:xfrm>
            <a:off x="457200" y="1188720"/>
            <a:ext cx="8229600" cy="2084832"/>
          </a:xfrm>
          <a:prstGeom prst="roundRect">
            <a:avLst>
              <a:gd name="adj" fmla="val 2632"/>
            </a:avLst>
          </a:prstGeom>
          <a:solidFill>
            <a:srgbClr val="1E2528"/>
          </a:solidFill>
          <a:ln w="12700">
            <a:solidFill>
              <a:srgbClr val="1E2528"/>
            </a:solidFill>
            <a:prstDash val="solid"/>
          </a:ln>
        </p:spPr>
      </p:sp>
      <p:sp>
        <p:nvSpPr>
          <p:cNvPr id="5" name="term"/>
          <p:cNvSpPr txBox="1"/>
          <p:nvPr/>
        </p:nvSpPr>
        <p:spPr>
          <a:xfrm>
            <a:off x="594360" y="1280160"/>
            <a:ext cx="795528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B7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help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help           Lista os alvos disponíveis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           Compila e roda os testes de host do core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setup          Instala ESP-IDF e wokwi-cli, pulando o que já existe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firmware       Compila o firmware ESP-IDF (carrega o ambiente sozinho)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sim            Roda todos os cenários do Wokwi headless (queda, botão, pulo...)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sim-queda      Cenário: queda, janela de 10 s e alerta com posição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sim-cancelada  Cenário: queda cancelada pelo botão dentro da janela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sim-botao      Cenário: pedido de ajuda pelo botão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sim-pulo       Cenário: pulo, que não pode gerar alerta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web            Gera o .bin para rodar no wokwi.com e mostra o passo a passo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clean          Apaga os binários gerados em build/ e no firmware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787F"/>
                </a:solidFill>
              </a:rPr>
              <a:t>make sim, em ordem: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7647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A624E"/>
                </a:solidFill>
              </a:rPr>
              <a:t>1  </a:t>
            </a:r>
            <a:pPr indent="0" marL="0">
              <a:buNone/>
            </a:pPr>
            <a:r>
              <a:rPr lang="en-US" sz="1150" dirty="0">
                <a:solidFill>
                  <a:srgbClr val="1F2A2E"/>
                </a:solidFill>
              </a:rPr>
              <a:t>carrega o ESP-IDF, se a shell não carregou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532888" y="377647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A624E"/>
                </a:solidFill>
              </a:rPr>
              <a:t>2  </a:t>
            </a:r>
            <a:pPr indent="0" marL="0">
              <a:buNone/>
            </a:pPr>
            <a:r>
              <a:rPr lang="en-US" sz="1150" dirty="0">
                <a:solidFill>
                  <a:srgbClr val="1F2A2E"/>
                </a:solidFill>
              </a:rPr>
              <a:t>lê o token do Wokwi de ~/.config/wokwi/token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608576" y="377647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A624E"/>
                </a:solidFill>
              </a:rPr>
              <a:t>3  </a:t>
            </a:r>
            <a:pPr indent="0" marL="0">
              <a:buNone/>
            </a:pPr>
            <a:r>
              <a:rPr lang="en-US" sz="1150" dirty="0">
                <a:solidFill>
                  <a:srgbClr val="1F2A2E"/>
                </a:solidFill>
              </a:rPr>
              <a:t>compila o firmware com idf.py build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684264" y="377647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A624E"/>
                </a:solidFill>
              </a:rPr>
              <a:t>4  </a:t>
            </a:r>
            <a:pPr indent="0" marL="0">
              <a:buNone/>
            </a:pPr>
            <a:r>
              <a:rPr lang="en-US" sz="1150" dirty="0">
                <a:solidFill>
                  <a:srgbClr val="1F2A2E"/>
                </a:solidFill>
              </a:rPr>
              <a:t>roda os 4 cenários; o primeiro que falhar para tudo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7365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78"/>
                </a:solidFill>
              </a:rPr>
              <a:t>make sim-queda, sim-cancelada, sim-botao e sim-pulo rodam um cenário só, com o log inteiro na tela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src/meuamparo/Makefile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O alvo sim por dentro</a:t>
            </a:r>
            <a:endParaRPr lang="en-US" sz="2600" dirty="0"/>
          </a:p>
        </p:txBody>
      </p:sp>
      <p:sp>
        <p:nvSpPr>
          <p:cNvPr id="4" name="code-bg"/>
          <p:cNvSpPr/>
          <p:nvPr/>
        </p:nvSpPr>
        <p:spPr>
          <a:xfrm>
            <a:off x="457200" y="1188720"/>
            <a:ext cx="8229600" cy="1933956"/>
          </a:xfrm>
          <a:prstGeom prst="roundRect">
            <a:avLst>
              <a:gd name="adj" fmla="val 2837"/>
            </a:avLst>
          </a:prstGeom>
          <a:solidFill>
            <a:srgbClr val="1E2528"/>
          </a:solidFill>
          <a:ln w="12700">
            <a:solidFill>
              <a:srgbClr val="1E2528"/>
            </a:solidFill>
            <a:prstDash val="solid"/>
          </a:ln>
        </p:spPr>
      </p:sp>
      <p:sp>
        <p:nvSpPr>
          <p:cNvPr id="5" name="code"/>
          <p:cNvSpPr txBox="1"/>
          <p:nvPr/>
        </p:nvSpPr>
        <p:spPr>
          <a:xfrm>
            <a:off x="566928" y="1280160"/>
            <a:ext cx="8010144" cy="1751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  </a:t>
            </a:r>
            <a:pPr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firmware </a:t>
            </a:r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Roda todos os cenários do Wokwi headless (queda, botão, pulo...)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103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@command -v wokwi-cli &gt;/dev/null </a:t>
            </a:r>
            <a:pPr indent="0" marL="0">
              <a:buNone/>
            </a:pP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&gt;&amp;</a:t>
            </a:r>
            <a:pPr indent="0" marL="0">
              <a:buNone/>
            </a:pP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|| {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104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0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"wokwi-cli não encontrado. Instale com:"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105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0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make setup"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106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0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107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</a:t>
            </a:r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$(WOKWI_TOKEN)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108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 in </a:t>
            </a:r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$(SCENARIOS)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buNone/>
            </a:pPr>
            <a:r>
              <a:rPr lang="en-US" sz="90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109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0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"== $$s"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wokwi-cli --quiet --timeout </a:t>
            </a:r>
            <a:pPr indent="0" marL="0">
              <a:buNone/>
            </a:pP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40000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--scenario scenarios/</a:t>
            </a:r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$$(basename $$s)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$(WOKWI_DIR)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|| </a:t>
            </a:r>
            <a:pPr indent="0" marL="0">
              <a:buNone/>
            </a:pPr>
            <a:r>
              <a:rPr lang="en-US" sz="90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112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</a:t>
            </a:r>
            <a:pPr indent="0" marL="0">
              <a:buNone/>
            </a:pPr>
            <a:r>
              <a:rPr lang="en-US" sz="900" dirty="0">
                <a:solidFill>
                  <a:srgbClr val="FF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"ok: todos os cenários passaram"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159252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Makefile, linhas 102–112</a:t>
            </a:r>
            <a:endParaRPr lang="en-US" sz="900" dirty="0"/>
          </a:p>
        </p:txBody>
      </p:sp>
      <p:sp>
        <p:nvSpPr>
          <p:cNvPr id="7" name="gh-link"/>
          <p:cNvSpPr txBox="1"/>
          <p:nvPr/>
        </p:nvSpPr>
        <p:spPr>
          <a:xfrm>
            <a:off x="7498080" y="31592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u="sng" dirty="0">
                <a:solidFill>
                  <a:srgbClr val="02787F"/>
                </a:solidFill>
                <a:hlinkClick r:id="rId1" invalidUrl="" action="" tgtFrame="" tooltip="https://github.com/gustavomoda/MeuAmparo/blob/main/src/meuamparo/Makefile#L102-L112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no GitHub ↗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4838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7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sim: firmware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78561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E"/>
                </a:solidFill>
              </a:rPr>
              <a:t>depende do alvo firmware: sempre testa o binário recém-compilado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34838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7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$(WOKWI_TOKEN)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378561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E"/>
                </a:solidFill>
              </a:rPr>
              <a:t>lê o token do arquivo, sem ele aparecer no repositório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34838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7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 exit 1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378561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E"/>
                </a:solidFill>
              </a:rPr>
              <a:t>o primeiro cenário que falhar interrompe tudo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4.3.2 Teste de integração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Cenários: o sistema inteiro testado sozinho</a:t>
            </a:r>
            <a:endParaRPr lang="en-US" sz="2600" dirty="0"/>
          </a:p>
        </p:txBody>
      </p:sp>
      <p:sp>
        <p:nvSpPr>
          <p:cNvPr id="4" name="code-bg"/>
          <p:cNvSpPr/>
          <p:nvPr/>
        </p:nvSpPr>
        <p:spPr>
          <a:xfrm>
            <a:off x="457200" y="1188720"/>
            <a:ext cx="5120640" cy="3291840"/>
          </a:xfrm>
          <a:prstGeom prst="roundRect">
            <a:avLst>
              <a:gd name="adj" fmla="val 1667"/>
            </a:avLst>
          </a:prstGeom>
          <a:solidFill>
            <a:srgbClr val="1E2528"/>
          </a:solidFill>
          <a:ln w="12700">
            <a:solidFill>
              <a:srgbClr val="1E2528"/>
            </a:solidFill>
            <a:prstDash val="solid"/>
          </a:ln>
        </p:spPr>
      </p:sp>
      <p:sp>
        <p:nvSpPr>
          <p:cNvPr id="5" name="code"/>
          <p:cNvSpPr txBox="1"/>
          <p:nvPr/>
        </p:nvSpPr>
        <p:spPr>
          <a:xfrm>
            <a:off x="566928" y="1280160"/>
            <a:ext cx="490118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</a:t>
            </a:r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wait-serial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'monitorando'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</a:t>
            </a:r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delay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1000ms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queda livre: o sensor quase não sente aceleração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</a:t>
            </a:r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set-control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part-id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imu1, </a:t>
            </a:r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accelZ, </a:t>
            </a:r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</a:t>
            </a:r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delay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300ms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impacto contra o chão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</a:t>
            </a:r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set-control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part-id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imu1, </a:t>
            </a:r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accelZ, </a:t>
            </a:r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</a:t>
            </a:r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delay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60ms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caída de lado, parada: a gravidade agora aparece no eixo 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</a:t>
            </a:r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set-control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part-id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imu1, </a:t>
            </a:r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accelZ, </a:t>
            </a:r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</a:t>
            </a:r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set-control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part-id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imu1, </a:t>
            </a:r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accelX, </a:t>
            </a:r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</a:t>
            </a:r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wait-serial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'queda confirmada'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ninguém cancela: depois da janela o alerta sai com a posição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</a:t>
            </a:r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wait-serial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'MA_ALERT {"device":"ma-01","kind":"fall"'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 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</a:t>
            </a:r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expect-pin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part-id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esp, </a:t>
            </a:r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5171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simulator/wokwi/scenarios/queda.yaml, linhas 7–22</a:t>
            </a:r>
            <a:endParaRPr lang="en-US" sz="900" dirty="0"/>
          </a:p>
        </p:txBody>
      </p:sp>
      <p:sp>
        <p:nvSpPr>
          <p:cNvPr id="7" name="gh-link"/>
          <p:cNvSpPr txBox="1"/>
          <p:nvPr/>
        </p:nvSpPr>
        <p:spPr>
          <a:xfrm>
            <a:off x="4389120" y="45171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u="sng" dirty="0">
                <a:solidFill>
                  <a:srgbClr val="02787F"/>
                </a:solidFill>
                <a:hlinkClick r:id="rId1" invalidUrl="" action="" tgtFrame="" tooltip="https://github.com/gustavomoda/MeuAmparo/blob/main/src/meuamparo/simulator/wokwi/scenarios/queda.yaml#L7-L22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no GitHub ↗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234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7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set-control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1508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E"/>
                </a:solidFill>
              </a:rPr>
              <a:t>mexe no sensor ou aperta o botão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1920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7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wait-serial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2194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E"/>
                </a:solidFill>
              </a:rPr>
              <a:t>espera uma linha no serial do firmware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2606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7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expect-pin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2880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E"/>
                </a:solidFill>
              </a:rPr>
              <a:t>confere o nível de um pino, como o LED</a:t>
            </a:r>
            <a:endParaRPr lang="en-US" sz="1150" dirty="0"/>
          </a:p>
        </p:txBody>
      </p:sp>
      <p:sp>
        <p:nvSpPr>
          <p:cNvPr id="14" name="sc-result"/>
          <p:cNvSpPr/>
          <p:nvPr/>
        </p:nvSpPr>
        <p:spPr>
          <a:xfrm>
            <a:off x="5852160" y="333756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89320" y="340156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E"/>
                </a:solidFill>
              </a:rPr>
              <a:t>4/4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3520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78"/>
                </a:solidFill>
              </a:rPr>
              <a:t>cenários passaram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989320" y="39776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E"/>
                </a:solidFill>
              </a:rPr>
              <a:t>botão, queda, queda cancelada, pulo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Wokwi for VS Code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Ver e interagir: a extensão do Wokwi</a:t>
            </a:r>
            <a:endParaRPr lang="en-US" sz="2600" dirty="0"/>
          </a:p>
        </p:txBody>
      </p:sp>
      <p:sp>
        <p:nvSpPr>
          <p:cNvPr id="4" name="vs-n0"/>
          <p:cNvSpPr/>
          <p:nvPr/>
        </p:nvSpPr>
        <p:spPr>
          <a:xfrm>
            <a:off x="457200" y="1234440"/>
            <a:ext cx="411480" cy="411480"/>
          </a:xfrm>
          <a:prstGeom prst="ellipse">
            <a:avLst/>
          </a:prstGeom>
          <a:solidFill>
            <a:srgbClr val="02787F"/>
          </a:solidFill>
          <a:ln w="12700">
            <a:solidFill>
              <a:srgbClr val="02787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2070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E"/>
                </a:solidFill>
              </a:rPr>
              <a:t>Abrir a pasta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4813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src/meuamparo/simulator/wokwi</a:t>
            </a:r>
            <a:endParaRPr lang="en-US" sz="1100" dirty="0"/>
          </a:p>
        </p:txBody>
      </p:sp>
      <p:sp>
        <p:nvSpPr>
          <p:cNvPr id="8" name="vs-n1"/>
          <p:cNvSpPr/>
          <p:nvPr/>
        </p:nvSpPr>
        <p:spPr>
          <a:xfrm>
            <a:off x="457200" y="2011680"/>
            <a:ext cx="411480" cy="411480"/>
          </a:xfrm>
          <a:prstGeom prst="ellipse">
            <a:avLst/>
          </a:prstGeom>
          <a:solidFill>
            <a:srgbClr val="02787F"/>
          </a:solidFill>
          <a:ln w="12700">
            <a:solidFill>
              <a:srgbClr val="02787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984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E"/>
                </a:solidFill>
              </a:rPr>
              <a:t>Licença, só na primeira vez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585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→ Wokwi: Request a new License</a:t>
            </a:r>
            <a:endParaRPr lang="en-US" sz="1100" dirty="0"/>
          </a:p>
        </p:txBody>
      </p:sp>
      <p:sp>
        <p:nvSpPr>
          <p:cNvPr id="12" name="vs-n2"/>
          <p:cNvSpPr/>
          <p:nvPr/>
        </p:nvSpPr>
        <p:spPr>
          <a:xfrm>
            <a:off x="457200" y="2788920"/>
            <a:ext cx="411480" cy="411480"/>
          </a:xfrm>
          <a:prstGeom prst="ellipse">
            <a:avLst/>
          </a:prstGeom>
          <a:solidFill>
            <a:srgbClr val="02787F"/>
          </a:solidFill>
          <a:ln w="12700">
            <a:solidFill>
              <a:srgbClr val="02787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7614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E"/>
                </a:solidFill>
              </a:rPr>
              <a:t>Rodar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0358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→ Wokwi: Start Simulator</a:t>
            </a:r>
            <a:endParaRPr lang="en-US" sz="1100" dirty="0"/>
          </a:p>
        </p:txBody>
      </p:sp>
      <p:sp>
        <p:nvSpPr>
          <p:cNvPr id="16" name="vs-n3"/>
          <p:cNvSpPr/>
          <p:nvPr/>
        </p:nvSpPr>
        <p:spPr>
          <a:xfrm>
            <a:off x="457200" y="3566160"/>
            <a:ext cx="411480" cy="411480"/>
          </a:xfrm>
          <a:prstGeom prst="ellipse">
            <a:avLst/>
          </a:prstGeom>
          <a:solidFill>
            <a:srgbClr val="02787F"/>
          </a:solidFill>
          <a:ln w="12700">
            <a:solidFill>
              <a:srgbClr val="02787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538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E"/>
                </a:solidFill>
              </a:rPr>
              <a:t>Interagir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8130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clicar no botão, mexer nos sliders do MPU6050, ler o visor e o serial</a:t>
            </a:r>
            <a:endParaRPr lang="en-US" sz="1100" dirty="0"/>
          </a:p>
        </p:txBody>
      </p:sp>
      <p:sp>
        <p:nvSpPr>
          <p:cNvPr id="20" name="code-bg"/>
          <p:cNvSpPr/>
          <p:nvPr/>
        </p:nvSpPr>
        <p:spPr>
          <a:xfrm>
            <a:off x="4846320" y="11887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1E2528"/>
          </a:solidFill>
          <a:ln w="12700">
            <a:solidFill>
              <a:srgbClr val="1E2528"/>
            </a:solidFill>
            <a:prstDash val="solid"/>
          </a:ln>
        </p:spPr>
      </p:sp>
      <p:sp>
        <p:nvSpPr>
          <p:cNvPr id="21" name="code"/>
          <p:cNvSpPr txBox="1"/>
          <p:nvPr/>
        </p:nvSpPr>
        <p:spPr>
          <a:xfrm>
            <a:off x="4956048" y="1280160"/>
            <a:ext cx="3621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pPr indent="0" marL="0">
              <a:buNone/>
            </a:pPr>
            <a:r>
              <a:rPr lang="en-US" sz="8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[wokwi]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pPr indent="0" marL="0">
              <a:buNone/>
            </a:pPr>
            <a:r>
              <a:rPr lang="en-US" sz="8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 = </a:t>
            </a:r>
            <a:pPr indent="0" marL="0">
              <a:buNone/>
            </a:pPr>
            <a:r>
              <a:rPr lang="en-US" sz="8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</a:t>
            </a:r>
            <a:pPr indent="0" marL="0">
              <a:buNone/>
            </a:pPr>
            <a:r>
              <a:rPr lang="en-US" sz="8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firmware = </a:t>
            </a:r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"../../firmware/build/meuamparo.bin"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E8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</a:t>
            </a:r>
            <a:pPr indent="0" marL="0">
              <a:buNone/>
            </a:pPr>
            <a:r>
              <a:rPr lang="en-US" sz="8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elf = </a:t>
            </a:r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"../../firmware/build/meuamparo.elf"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232257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simulator/wokwi/wokwi.toml, linhas 3–6</a:t>
            </a:r>
            <a:endParaRPr lang="en-US" sz="900" dirty="0"/>
          </a:p>
        </p:txBody>
      </p:sp>
      <p:sp>
        <p:nvSpPr>
          <p:cNvPr id="23" name="gh-link"/>
          <p:cNvSpPr txBox="1"/>
          <p:nvPr/>
        </p:nvSpPr>
        <p:spPr>
          <a:xfrm>
            <a:off x="7498080" y="232257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u="sng" dirty="0">
                <a:solidFill>
                  <a:srgbClr val="02787F"/>
                </a:solidFill>
                <a:hlinkClick r:id="rId1" invalidUrl="" action="" tgtFrame="" tooltip="https://github.com/gustavomoda/MeuAmparo/blob/main/src/meuamparo/simulator/wokwi/wokwi.toml#L3-L6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no GitHub ↗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27432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</a:rPr>
              <a:t>O wokwi.toml aponta para o mesmo binário que o make sim usa. O que se vê na tela é o firmware que passou nos testes.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120640" y="36576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478"/>
                </a:solidFill>
              </a:rPr>
              <a:t>Sem VS Code: make web gera um .bin para subir no wokwi.com.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4.3 Testar o sistema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Testes em duas camadas</a:t>
            </a:r>
            <a:endParaRPr lang="en-US" sz="2600" dirty="0"/>
          </a:p>
        </p:txBody>
      </p:sp>
      <p:sp>
        <p:nvSpPr>
          <p:cNvPr id="4" name="host"/>
          <p:cNvSpPr/>
          <p:nvPr/>
        </p:nvSpPr>
        <p:spPr>
          <a:xfrm>
            <a:off x="457200" y="118872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787F"/>
                </a:solidFill>
              </a:rPr>
              <a:t>make test, no computador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2A2E"/>
                </a:solidFill>
              </a:rPr>
              <a:t>50/50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78"/>
                </a:solidFill>
              </a:rPr>
              <a:t>quedas fortes detectadas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17373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2A2E"/>
                </a:solidFill>
              </a:rPr>
              <a:t>22/50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78"/>
                </a:solidFill>
              </a:rPr>
              <a:t>quedas amortecidas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788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</a:rPr>
              <a:t>0 alarme falso em andar, correr, pular, sentar com força, deitar e cair e levantar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657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A624E"/>
                </a:solidFill>
              </a:rPr>
              <a:t>Traces escritos pelo grupo: não medem a meta de 90%. A medição usará o SisFall.</a:t>
            </a:r>
            <a:endParaRPr lang="en-US" sz="1200" dirty="0"/>
          </a:p>
        </p:txBody>
      </p:sp>
      <p:sp>
        <p:nvSpPr>
          <p:cNvPr id="12" name="sim"/>
          <p:cNvSpPr/>
          <p:nvPr/>
        </p:nvSpPr>
        <p:spPr>
          <a:xfrm>
            <a:off x="4663440" y="118872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787F"/>
                </a:solidFill>
              </a:rPr>
              <a:t>make sim, no Wokwi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7373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2A2E"/>
                </a:solidFill>
              </a:rPr>
              <a:t>4/4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78"/>
                </a:solidFill>
              </a:rPr>
              <a:t>cenários passaram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78892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2A2E"/>
                </a:solidFill>
              </a:rPr>
              <a:t>Botão: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F2A2E"/>
                </a:solidFill>
              </a:rPr>
              <a:t>alerta panic e LED aceso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2A2E"/>
                </a:solidFill>
              </a:rPr>
              <a:t>Queda: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F2A2E"/>
                </a:solidFill>
              </a:rPr>
              <a:t>janela de 10 s e alerta fall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2A2E"/>
                </a:solidFill>
              </a:rPr>
              <a:t>Queda cancelada: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F2A2E"/>
                </a:solidFill>
              </a:rPr>
              <a:t>botão na janela, sem alerta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2A2E"/>
                </a:solidFill>
              </a:rPr>
              <a:t>Pulo: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F2A2E"/>
                </a:solidFill>
              </a:rPr>
              <a:t>volta a monitorar, sem alerta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Por que isso importa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O que esse jeito de trabalhar nos dá</a:t>
            </a:r>
            <a:endParaRPr lang="en-US" sz="2600" dirty="0"/>
          </a:p>
        </p:txBody>
      </p:sp>
      <p:sp>
        <p:nvSpPr>
          <p:cNvPr id="4" name="claim-0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5" name="claim-ic-0"/>
          <p:cNvSpPr/>
          <p:nvPr/>
        </p:nvSpPr>
        <p:spPr>
          <a:xfrm>
            <a:off x="685800" y="1417320"/>
            <a:ext cx="502920" cy="502920"/>
          </a:xfrm>
          <a:prstGeom prst="ellipse">
            <a:avLst/>
          </a:prstGeom>
          <a:solidFill>
            <a:srgbClr val="02787F"/>
          </a:solidFill>
          <a:ln w="12700">
            <a:solidFill>
              <a:srgbClr val="02787F"/>
            </a:solidFill>
            <a:prstDash val="solid"/>
          </a:ln>
        </p:spPr>
      </p:sp>
      <p:pic>
        <p:nvPicPr>
          <p:cNvPr id="6" name="Image 0" descr="claim-ic-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5430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371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787F"/>
                </a:solidFill>
              </a:rPr>
              <a:t>1 comando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783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2E"/>
                </a:solidFill>
              </a:rPr>
              <a:t>make sim reproduz tudo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207568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478"/>
                </a:solidFill>
              </a:rPr>
              <a:t>compila e testa o sistema inteiro em qualquer máquina com as ferramentas</a:t>
            </a:r>
            <a:endParaRPr lang="en-US" sz="1100" dirty="0"/>
          </a:p>
        </p:txBody>
      </p:sp>
      <p:sp>
        <p:nvSpPr>
          <p:cNvPr id="10" name="claim-1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11" name="claim-ic-1"/>
          <p:cNvSpPr/>
          <p:nvPr/>
        </p:nvSpPr>
        <p:spPr>
          <a:xfrm>
            <a:off x="4892040" y="1417320"/>
            <a:ext cx="502920" cy="502920"/>
          </a:xfrm>
          <a:prstGeom prst="ellipse">
            <a:avLst/>
          </a:prstGeom>
          <a:solidFill>
            <a:srgbClr val="02787F"/>
          </a:solidFill>
          <a:ln w="12700">
            <a:solidFill>
              <a:srgbClr val="02787F"/>
            </a:solidFill>
            <a:prstDash val="solid"/>
          </a:ln>
        </p:spPr>
      </p:sp>
      <p:pic>
        <p:nvPicPr>
          <p:cNvPr id="12" name="Image 1" descr="claim-ic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770" y="154305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77840" y="1371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787F"/>
                </a:solidFill>
              </a:rPr>
              <a:t>1 código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5577840" y="1783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2E"/>
                </a:solidFill>
              </a:rPr>
              <a:t>o mesmo C no Mac e na placa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5577840" y="207568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478"/>
                </a:solidFill>
              </a:rPr>
              <a:t>o detector é afinado no computador, sem gravar a placa a cada ajuste</a:t>
            </a:r>
            <a:endParaRPr lang="en-US" sz="1100" dirty="0"/>
          </a:p>
        </p:txBody>
      </p:sp>
      <p:sp>
        <p:nvSpPr>
          <p:cNvPr id="16" name="claim-2"/>
          <p:cNvSpPr/>
          <p:nvPr/>
        </p:nvSpPr>
        <p:spPr>
          <a:xfrm>
            <a:off x="457200" y="29260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17" name="claim-ic-2"/>
          <p:cNvSpPr/>
          <p:nvPr/>
        </p:nvSpPr>
        <p:spPr>
          <a:xfrm>
            <a:off x="685800" y="3154680"/>
            <a:ext cx="502920" cy="502920"/>
          </a:xfrm>
          <a:prstGeom prst="ellipse">
            <a:avLst/>
          </a:prstGeom>
          <a:solidFill>
            <a:srgbClr val="6FA8AC"/>
          </a:solidFill>
          <a:ln w="12700">
            <a:solidFill>
              <a:srgbClr val="6FA8AC"/>
            </a:solidFill>
            <a:prstDash val="solid"/>
          </a:ln>
        </p:spPr>
      </p:sp>
      <p:pic>
        <p:nvPicPr>
          <p:cNvPr id="18" name="Image 2" descr="claim-ic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" y="3280410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71600" y="3108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787F"/>
                </a:solidFill>
              </a:rPr>
              <a:t>4 cenários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1371600" y="3520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2E"/>
                </a:solidFill>
              </a:rPr>
              <a:t>regressão do sistema integrado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1371600" y="381304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478"/>
                </a:solidFill>
              </a:rPr>
              <a:t>mudou um limiar e quebrou a queda? o make sim acusa</a:t>
            </a:r>
            <a:endParaRPr lang="en-US" sz="1100" dirty="0"/>
          </a:p>
        </p:txBody>
      </p:sp>
      <p:sp>
        <p:nvSpPr>
          <p:cNvPr id="22" name="claim-3"/>
          <p:cNvSpPr/>
          <p:nvPr/>
        </p:nvSpPr>
        <p:spPr>
          <a:xfrm>
            <a:off x="4663440" y="29260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23" name="claim-ic-3"/>
          <p:cNvSpPr/>
          <p:nvPr/>
        </p:nvSpPr>
        <p:spPr>
          <a:xfrm>
            <a:off x="4892040" y="3154680"/>
            <a:ext cx="502920" cy="502920"/>
          </a:xfrm>
          <a:prstGeom prst="ellipse">
            <a:avLst/>
          </a:prstGeom>
          <a:solidFill>
            <a:srgbClr val="DA624E"/>
          </a:solidFill>
          <a:ln w="12700">
            <a:solidFill>
              <a:srgbClr val="DA624E"/>
            </a:solidFill>
            <a:prstDash val="solid"/>
          </a:ln>
        </p:spPr>
      </p:sp>
      <p:pic>
        <p:nvPicPr>
          <p:cNvPr id="24" name="Image 3" descr="claim-ic-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7770" y="3280410"/>
            <a:ext cx="251460" cy="2514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577840" y="3108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A624E"/>
                </a:solidFill>
              </a:rPr>
              <a:t>Limites claros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5577840" y="3520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2E"/>
                </a:solidFill>
              </a:rPr>
              <a:t>o que não está provado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5577840" y="381304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478"/>
                </a:solidFill>
              </a:rPr>
              <a:t>traces sintéticos, sem hardware, GNSS fixo: dito em voz alta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Demonstração ao vivo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AC"/>
                </a:solidFill>
              </a:rPr>
              <a:t>No terminal, na raiz do repositório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sim-queda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24612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E4"/>
                </a:solidFill>
              </a:rPr>
              <a:t>queda, janela de 10 s e alerta com posição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sim-cancelada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2103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E4"/>
                </a:solidFill>
              </a:rPr>
              <a:t>queda cancelada pelo botão dentro da janela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sim-botao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E4"/>
                </a:solidFill>
              </a:rPr>
              <a:t>pedido de ajuda pelo botão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sim-pulo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E4"/>
                </a:solidFill>
              </a:rPr>
              <a:t>pulo, que não pode gerar alerta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B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QUEDA LIVRE → IMPACTO → PESSOA PARADA, DEITADA → QUEDA DETECTADA → ALERTA ENVIADO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Wokwi no VS Code: </a:t>
            </a:r>
            <a:pPr indent="0" marL="0">
              <a:buNone/>
            </a:pPr>
            <a:r>
              <a:rPr lang="en-US" sz="1500" dirty="0">
                <a:solidFill>
                  <a:srgbClr val="CFE3E4"/>
                </a:solidFill>
              </a:rPr>
              <a:t>circuito ao vivo, botão e visor</a:t>
            </a:r>
            <a:endParaRPr lang="en-US" sz="1500" dirty="0"/>
          </a:p>
        </p:txBody>
      </p:sp>
      <p:pic>
        <p:nvPicPr>
          <p:cNvPr id="14" name="Image 0" descr="Ícone de reproduç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645920"/>
            <a:ext cx="1188720" cy="1188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9B4B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Relato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Dificuldades e problemas</a:t>
            </a:r>
            <a:endParaRPr lang="en-US" sz="2600" dirty="0"/>
          </a:p>
        </p:txBody>
      </p:sp>
      <p:sp>
        <p:nvSpPr>
          <p:cNvPr id="4" name="dif-0"/>
          <p:cNvSpPr/>
          <p:nvPr/>
        </p:nvSpPr>
        <p:spPr>
          <a:xfrm>
            <a:off x="457200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A624E"/>
                </a:solidFill>
              </a:rPr>
              <a:t>Instituições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64208"/>
            <a:ext cx="2240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</a:rPr>
              <a:t>Só a Casa do Vovô aceitou: reunião em 03/11. Lar Padre Euclides não respondeu nem atendeu; Lar do Vovô Albano, sem retorno da assistente social</a:t>
            </a:r>
            <a:endParaRPr lang="en-US" sz="1050" dirty="0"/>
          </a:p>
        </p:txBody>
      </p:sp>
      <p:sp>
        <p:nvSpPr>
          <p:cNvPr id="7" name="dif-1"/>
          <p:cNvSpPr/>
          <p:nvPr/>
        </p:nvSpPr>
        <p:spPr>
          <a:xfrm>
            <a:off x="3246120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3258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A624E"/>
                </a:solidFill>
              </a:rPr>
              <a:t>Requisitos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664208"/>
            <a:ext cx="2240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</a:rPr>
              <a:t>11 requisitos escritos antes da escuta, a partir dos objetivos, concluídos com atraso no fim de outubro; serão validados na reunião</a:t>
            </a:r>
            <a:endParaRPr lang="en-US" sz="1050" dirty="0"/>
          </a:p>
        </p:txBody>
      </p:sp>
      <p:sp>
        <p:nvSpPr>
          <p:cNvPr id="10" name="dif-2"/>
          <p:cNvSpPr/>
          <p:nvPr/>
        </p:nvSpPr>
        <p:spPr>
          <a:xfrm>
            <a:off x="6035040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3258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A624E"/>
                </a:solidFill>
              </a:rPr>
              <a:t>Tempo e custo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664208"/>
            <a:ext cx="2240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</a:rPr>
              <a:t>16/09: não comprar a placa, sem tempo hábil. Waveshare estimada em R$ 597 a R$ 622 (set/2026)</a:t>
            </a:r>
            <a:endParaRPr lang="en-US" sz="1050" dirty="0"/>
          </a:p>
        </p:txBody>
      </p:sp>
      <p:sp>
        <p:nvSpPr>
          <p:cNvPr id="13" name="dif-3"/>
          <p:cNvSpPr/>
          <p:nvPr/>
        </p:nvSpPr>
        <p:spPr>
          <a:xfrm>
            <a:off x="457200" y="2926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063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787F"/>
                </a:solidFill>
              </a:rPr>
              <a:t>Wokwi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401568"/>
            <a:ext cx="2240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</a:rPr>
              <a:t>primeira vez usando: token de CI, licença da extensão, cenários</a:t>
            </a:r>
            <a:endParaRPr lang="en-US" sz="1050" dirty="0"/>
          </a:p>
        </p:txBody>
      </p:sp>
      <p:sp>
        <p:nvSpPr>
          <p:cNvPr id="16" name="dif-4"/>
          <p:cNvSpPr/>
          <p:nvPr/>
        </p:nvSpPr>
        <p:spPr>
          <a:xfrm>
            <a:off x="3246120" y="2926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29000" y="3063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787F"/>
                </a:solidFill>
              </a:rPr>
              <a:t>Só simulação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3401568"/>
            <a:ext cx="2240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</a:rPr>
              <a:t>Wokwi sem GNSS nem modem 4G: posição fixa e alerta no serial</a:t>
            </a:r>
            <a:endParaRPr lang="en-US" sz="1050" dirty="0"/>
          </a:p>
        </p:txBody>
      </p:sp>
      <p:sp>
        <p:nvSpPr>
          <p:cNvPr id="19" name="dif-5"/>
          <p:cNvSpPr/>
          <p:nvPr/>
        </p:nvSpPr>
        <p:spPr>
          <a:xfrm>
            <a:off x="6035040" y="2926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3063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787F"/>
                </a:solidFill>
              </a:rPr>
              <a:t>Ambiente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3401568"/>
            <a:ext cx="2240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</a:rPr>
              <a:t>queda difícil de provocar com slider; atualização do Python quebrou o ESP-IDF (resolvido no Makefile)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7365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78"/>
                </a:solidFill>
              </a:rPr>
              <a:t>Valores de setembro de 2026: estimativa, não preço atual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2.3 Grupo de trabalho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O que cada um fez e aprendeu</a:t>
            </a:r>
            <a:endParaRPr lang="en-US" sz="2600" dirty="0"/>
          </a:p>
        </p:txBody>
      </p:sp>
      <p:sp>
        <p:nvSpPr>
          <p:cNvPr id="4" name="who-Gustavo"/>
          <p:cNvSpPr/>
          <p:nvPr/>
        </p:nvSpPr>
        <p:spPr>
          <a:xfrm>
            <a:off x="45720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787F"/>
                </a:solidFill>
              </a:rPr>
              <a:t>Gustavo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2880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</a:rPr>
              <a:t>Arquitetura do código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</a:rPr>
              <a:t>Detector, máquina de estados e firmware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</a:rPr>
              <a:t>Circuito, visor e cenários no Wokwi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</a:rPr>
              <a:t>Repositório, Makefile e modelo do case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886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2787F"/>
                </a:solidFill>
              </a:rPr>
              <a:t>O que eu aprendi?</a:t>
            </a:r>
            <a:endParaRPr lang="en-US" sz="1600" dirty="0"/>
          </a:p>
        </p:txBody>
      </p:sp>
      <p:sp>
        <p:nvSpPr>
          <p:cNvPr id="8" name="who-Isa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325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A624E"/>
                </a:solidFill>
              </a:rPr>
              <a:t>Isa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82880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</a:rPr>
              <a:t>Contato com as três instituições; reunião marcada na Casa do Vovô (03/11)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</a:rPr>
              <a:t>Escopo e 11 requisitos funcionais, cada um com forma de verificação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</a:rPr>
              <a:t>Diagrama de blocos e fluxograma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2E"/>
                </a:solidFill>
              </a:rPr>
              <a:t>Cronograma e slides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3886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DA624E"/>
                </a:solidFill>
              </a:rPr>
              <a:t>O que eu aprendi?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Até 25/11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Limites e próximos passos</a:t>
            </a:r>
            <a:endParaRPr lang="en-US" sz="2600" dirty="0"/>
          </a:p>
        </p:txBody>
      </p:sp>
      <p:sp>
        <p:nvSpPr>
          <p:cNvPr id="4" name="limits"/>
          <p:cNvSpPr/>
          <p:nvPr/>
        </p:nvSpPr>
        <p:spPr>
          <a:xfrm>
            <a:off x="45720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A624E"/>
                </a:solidFill>
              </a:rPr>
              <a:t>O que a simulação não prova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2880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2E"/>
                </a:solidFill>
              </a:rPr>
              <a:t>Autonomia de 8 horas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2E"/>
                </a:solidFill>
              </a:rPr>
              <a:t>Conforto e fixação no corpo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2E"/>
                </a:solidFill>
              </a:rPr>
              <a:t>Alarme falso no dia a dia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2E"/>
                </a:solidFill>
              </a:rPr>
              <a:t>Cobertura do 4G e precisão do GPS</a:t>
            </a:r>
            <a:endParaRPr lang="en-US" sz="1350" dirty="0"/>
          </a:p>
        </p:txBody>
      </p:sp>
      <p:sp>
        <p:nvSpPr>
          <p:cNvPr id="7" name="next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9DC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787F"/>
                </a:solidFill>
              </a:rPr>
              <a:t>Até a entrega final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82880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F2A2E"/>
                </a:solidFill>
              </a:rPr>
              <a:t>Reunião com a Casa do Vovô (03/11): validar requisitos e diagramas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F2A2E"/>
                </a:solidFill>
              </a:rPr>
              <a:t>Medir o detector com o SisFall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F2A2E"/>
                </a:solidFill>
              </a:rPr>
              <a:t>GPS: hoje a posição é fixa; falta o GNSS (driver ou chip simulado)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F2A2E"/>
                </a:solidFill>
              </a:rPr>
              <a:t>Avaliação de reação com a instituição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F2A2E"/>
                </a:solidFill>
              </a:rPr>
              <a:t>Roteiro 3 e relatos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F2A2E"/>
                </a:solidFill>
              </a:rPr>
              <a:t>Seminário de avaliação, 25/11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uAmparo">
  <a:themeElements>
    <a:clrScheme name="MeuAmparo">
      <a:dk1>
        <a:srgbClr val="1F2A2E"/>
      </a:dk1>
      <a:lt1>
        <a:srgbClr val="FFFFFF"/>
      </a:lt1>
      <a:dk2>
        <a:srgbClr val="0F3B3E"/>
      </a:dk2>
      <a:lt2>
        <a:srgbClr val="F7F6F3"/>
      </a:lt2>
      <a:accent1>
        <a:srgbClr val="02787F"/>
      </a:accent1>
      <a:accent2>
        <a:srgbClr val="DA624E"/>
      </a:accent2>
      <a:accent3>
        <a:srgbClr val="6FA8AC"/>
      </a:accent3>
      <a:accent4>
        <a:srgbClr val="F2B8AC"/>
      </a:accent4>
      <a:accent5>
        <a:srgbClr val="6B7478"/>
      </a:accent5>
      <a:accent6>
        <a:srgbClr val="A9B4B6"/>
      </a:accent6>
      <a:hlink>
        <a:srgbClr val="02787F"/>
      </a:hlink>
      <a:folHlink>
        <a:srgbClr val="DA624E"/>
      </a:folHlink>
    </a:clrScheme>
    <a:fontScheme name="MeuAmpar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MeuAmparo: seminário de desenvolvimento</dc:title>
  <dc:subject>PptxGenJS Presentation</dc:subject>
  <dc:creator>Luis Gustavo Moda e Isabelly Vitoria</dc:creator>
  <cp:lastModifiedBy>Luis Gustavo Moda e Isabelly Vitoria</cp:lastModifiedBy>
  <cp:revision>1</cp:revision>
  <dcterms:created xsi:type="dcterms:W3CDTF">2026-10-28T21:41:55Z</dcterms:created>
  <dcterms:modified xsi:type="dcterms:W3CDTF">2026-10-28T21:41:55Z</dcterms:modified>
</cp:coreProperties>
</file>