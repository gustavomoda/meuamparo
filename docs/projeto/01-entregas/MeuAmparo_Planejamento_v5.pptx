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Abertura: o projeto pretende identificar possíveis quedas, permitir pedidos de ajuda e avisar cuidadores com a localização. Hoje apresentamos o planejamento. A instituição ainda está em prospecção.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ouvir a instituição, definir requisitos, projetar e desenvolver a solução, testar e avaliar. Estudos técnicos podem avançar durante a prospecção. As atividades com o público dependem do aceite. Cada fase gera evidências: registros, requisitos, código, testes e avaliação.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Calendário atualizado da Aula 04: planejamento em 23/09, seminário de desenvolvimento em 28/10 e entrega final com seminário de avaliação em 25/11. Proposta de sequência: requisitos e validação, implementação e testes, avaliação e relatos.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Usaremos C com ESP-IDF. ESP-IDF é o framework oficial da Espressif: reúne ferramentas, drivers e bibliotecas para programar a família ESP32. Ele aceita C e C++. C++ oferece classes e outros recursos úteis para organizar interfaces e componentes, mas não torna o detector automaticamente mais preciso ou mais rápido. C já atende ao cálculo e mantém continuidade com a PoC atual. Podemos avaliar C++ se a complexidade da interface touch justificar; ainda não é uma mudança definida. Fonte: https://docs.espressif.com/projects/esp-idf/en/stable/esp32/api-guides/cplusplus.html . Core contém a lógica independente de hardware; firmware executa no ESP32; simulator reúne circuitos e cenários; test executa a lógica no computador. A pequena PoC já reúne magnitude da aceleração com teste de host e LED no ESP32-S3 simulado. Ela não implementa o detector completo nem o painel. Captura da estrutura fornecida pelo grupo.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Pessoas idosas são as beneficiárias. Cuidadores e familiares são destinatários dos alertas. A coordenação da instituição ajuda a definir a rotina e a viabilizar a participação. Casa do Vovô, Lar Padre Euclides e Lar do Vovô Albano são candidatas, não parceiras confirmadas.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Estratégia proposta: telefonar à coordenação, apresentar o projeto de extensão e pedir uma conversa. Levar a carta de apresentação e um resumo visual. Ouvir necessidades antes de fechar requisitos. Se houver interesse, combinar a participação e registrar o aceite. Durante o desenvolvimento, validar fluxo e interface. Ao final, demonstrar a simulação e recolher feedback, com registros autorizados. Não provocar quedas em pessoas.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Proposta de distribuição ainda a confirmar: Gustavo na implementação técnica; Isa na organização de requisitos, registros e preparação da avaliação. Ambos participam do contato, testes e revisão. A distribuição será registrada e ajustada à disponibilidade e ao aprendizado. Não apresentar essas frentes como atividades individuais já realizadas.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organizar as tarefas no GitHub Projects: https://github.com/users/gustavomoda/projects/2/views/4 . O repositório reúne código, documentos e histórico. O quadro já existe. Propomos quatro estados e cada tarefa com responsável, prazo e critério de conclusão. O exemplo no slide ilustra o fluxo, não representa o status real das tarefas. Confirmar a ferramenta com o professor. Exemplo de pronto: acionamento do botão gera o evento esperado e há registro do teste.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explicar: o sensor mede aceleração em três direções perpendiculares, chamadas X, Y e Z. ax é a aceleração no eixo X; ay, no Y; az, no Z. Esses eixos acompanham a posição do sensor, não são direções fixas do ambiente. Elevamos cada leitura ao quadrado, somamos e tiramos a raiz. A é a magnitude: um único valor que resume a aceleração medida, incluindo a gravidade. Exemplo: ax=0, ay=0 e az=1 g resultam em A=1 g. É uma extensão do teorema de Pitágoras para três dimensões. O MPU6050 fornece aceleração nos três eixos em g. O ESP32 calcula a magnitude. Em repouso ela fica próxima de 1 g. Uma fase de queda livre pode se aproximar de zero; um impacto pode produzir um pico. A magnitude independe da orientação dos eixos, mas posição e fixação no corpo afetam a medição. O cálculo já está implementado; as regras de detecção ainda serão desenvolvidas. A decisão será local, enquanto o backend recebe e exibe o evento.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 pico isolado pode ocorrer ao sentar rapidamente, deitar ou bater o dispositivo. Estratégia a validar: considerar janela de tempo, impacto, orientação e movimento posterior. Limites e tempos serão ajustados com dados de teste. Não exigir queda livre ou imobilidade como condição universal: há quedas que não apresentam esses sinais. Comparar falsos alarmes e quedas não detectadas. Incluir queda do aparelho solto como limitação a investigar. Referências: https://www.mdpi.com/1424-8220/17/1/198 e https://pmc.ncbi.nlm.nih.gov/articles/PMC3353905/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Testar o algoritmo no computador com dados gravados, depois a integração no Wokwi. SisFall e FallAllD são candidatos sujeitos à conferência de licença e formato. Separar dados de ajuste e avaliação. Contar quedas detectadas, não detectadas e falsos alarmes. Detecção = detectadas / total de quedas testadas. Registrar duração ou atividades para contextualizar falsos alarmes. Ensaios curtos não comprovam menos de um alarme falso por dia. A configuração em menos de 15 minutos pode ser avaliada na demonstração, conforme aceite. Autonomia de 8 horas depende de hardware futuro. Todos os números são metas.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 definida: Waveshare ESP32-S3-SIM7670G-4G. ESP32-S3 executa a lógica, GNSS fornece localização e modem envia alertas na proposta física. MPU6050 fornece aceleração e rotação. Visor touch de 1,69 polegada, botão manual, LED e buzzer, bateria 18650 e case completam a proposta. A integração do visor e seu custo ainda precisam ser validados. Sem compra neste semestre. A imagem é conceitual e medidas não foram validadas na placa física.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desafio foi chegar a uma placa e a um case que funcionem juntos e sejam adequados à proposta de uso. O modelo existe, mas as medidas e os encaixes ainda dependem da placa física. Precisaremos testar conforto, peso, estabilidade, leitura e uso da tela, acesso ao botão e pressão ao deitar, especialmente durante o sono. Essa avaliação física é futura, já que neste semestre não haverá montagem. A instituição poderá opinar sobre a proposta visual, mas isso não comprova conforto.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Wokwi simula ESP32-S3, MPU6050, botão, LED e buzzer e executa firmware compilado com ESP-IDF. Permite repetir cenários sem aguardar hardware. Não simula a placa Waveshare completa. Planejamos localização por dados simulados e transporte pelo Wi-Fi virtual; GNSS e modem celular reais ficam sem validação. Confirmar Wokwi com professor: roteiro cita software livre. Fontes: https://docs.wokwi.com/guides/esp32 ; https://docs.wokwi.com/parts/wokwi-mpu6050 ; https://docs.wokwi.com/guides/esp32-wifi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MeuAmparo: estimativa documentada em setembro de 2026 para futura montagem, sem compra neste semestre. Placa R$459,99, frete R$8,90, MPU6050 R$28,10, bateria R$45 a R$70, botão/buzzer/LED R$15, pinos e fios R$10, PETG R$15, cinta/clip R$15. Total exato R$596,99 a R$621,99, arredondado no planejamento. Não inclui visor touch, trabalho de desenvolvimento, plano de dados ou hospedagem. A proposta com visor touch de 1,69 polegada foi confirmada pelo grupo; o custo da tela será cotado e o total revisado. Apple Watch SE 3: a partir de R$3.299 na loja oficial consultada em 16/09/2026; preço inicial não representa necessariamente a versão celular. Possui detecção de queda e SOS; comunicação depende de conectividade e configuração compatíveis. É um produto comercial, enquanto MeuAmparo é um projeto ainda em simulação, com personalização e código aberto como proposta. Não presumir desempenho, conforto ou confiabilidade equivalentes. Fontes: docs/projeto/01-entregas/md/Roteiro_2-Planejamento.md; https://www.apple.com/br/shop/buy-watch/apple-watch-se ; https://support.apple.com/pt-br/108896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Escolhemos GNU GPL versão 3. Ela permite usar, estudar, modificar e compartilhar o código. Na distribuição de versões derivadas abrangidas pela GPL, a mesma licença e o acesso ao código-fonte correspondente preservam essas liberdades. Isso facilita continuidade e colaboração no projeto. Materiais e dependências de terceiros mantêm suas licenças. Fonte: LICENSE do repositório e https://www.gnu.org/licenses/gpl-3.0.html . Encerrar com os próximos passos: contato com instituição, confirmação do Wokwi e Kanban, e desenvolvimento dos cenários do detector.</a:t>
            </a:r>
          </a:p>
          <a:p>
            <a:endParaRPr/>
          </a:p>
          <a:p>
            <a:r>
              <a:t>Fontes: documentação local MeuAmparo; Aula 04 e Aula 05 da disciplina. Ícones: Lucide, https://lucide.dev, licença 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gustavomoda/projects/2/views/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9C056-447B-4BB1-97BA-195BE2A168A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MeuAmparo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64B385-A1AA-4BC3-8917-05EDAC9607B8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792CA-ACC2-46A4-B518-FFD44CFFE21B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61912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Seminário de</a:t>
            </a:r>
          </a:p>
          <a:p>
            <a:pPr algn="l">
              <a:defRPr sz="4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planejamento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510E1-3501-432B-B5D7-36CDC5A5AEA9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619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Luis Gustavo Moda</a:t>
            </a:r>
          </a:p>
          <a:p>
            <a:pPr algn="l">
              <a:defRPr sz="2250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Isabelly Vitoria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02919-4288-42FC-89B8-B96389FE059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6667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Programação de Microcontroladores</a:t>
            </a:r>
          </a:p>
          <a:p>
            <a:pPr algn="l">
              <a:defRPr sz="180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Estácio Ribeirão Preto • 16/09/2026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05750" y="1809750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32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B3D5161-79AE-4918-99D2-F6F908E6194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2.1  Plano de trabalho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A5EFE5-C749-494E-89EE-BCE9E2233CF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Todas as fases, com evidências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4B59AA-0CA8-4790-815B-31B4C5D5586D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225" y="2324100"/>
            <a:ext cx="1047750" cy="1047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4AD91E-288B-40DB-81BF-CD35E6FFB657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Escutar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2386D-DA76-4681-ABE8-E8F8D6B903B9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Necessidades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76600" y="2324100"/>
            <a:ext cx="1047750" cy="1047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52FF1D-5A0F-4BFD-A2D4-6A762D896D78}"/>
              </a:ext>
            </a:extLst>
          </p:cNvPr>
          <p:cNvSpPr>
            <a:spLocks noGrp="1"/>
          </p:cNvSpPr>
          <p:nvPr/>
        </p:nvSpPr>
        <p:spPr>
          <a:xfrm>
            <a:off x="2847975" y="378142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Projetar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3F1F12-6489-4569-98A1-84211021A648}"/>
              </a:ext>
            </a:extLst>
          </p:cNvPr>
          <p:cNvSpPr>
            <a:spLocks noGrp="1"/>
          </p:cNvSpPr>
          <p:nvPr/>
        </p:nvSpPr>
        <p:spPr>
          <a:xfrm>
            <a:off x="2847975" y="44577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Requisitos e fluxo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514975" y="2324100"/>
            <a:ext cx="1047750" cy="1047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29ADB5F-4EB8-4F70-820E-A631744C9C81}"/>
              </a:ext>
            </a:extLst>
          </p:cNvPr>
          <p:cNvSpPr>
            <a:spLocks noGrp="1"/>
          </p:cNvSpPr>
          <p:nvPr/>
        </p:nvSpPr>
        <p:spPr>
          <a:xfrm>
            <a:off x="5086350" y="378142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Desenvolver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006E7-1736-4A05-B1AF-D24C1EA1ABB9}"/>
              </a:ext>
            </a:extLst>
          </p:cNvPr>
          <p:cNvSpPr>
            <a:spLocks noGrp="1"/>
          </p:cNvSpPr>
          <p:nvPr/>
        </p:nvSpPr>
        <p:spPr>
          <a:xfrm>
            <a:off x="5086350" y="44577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Firmware e painel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753350" y="2324100"/>
            <a:ext cx="1047750" cy="10477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E4C7F03-CC30-4B9E-BE0D-48661FE27EAF}"/>
              </a:ext>
            </a:extLst>
          </p:cNvPr>
          <p:cNvSpPr>
            <a:spLocks noGrp="1"/>
          </p:cNvSpPr>
          <p:nvPr/>
        </p:nvSpPr>
        <p:spPr>
          <a:xfrm>
            <a:off x="7324725" y="378142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Testar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A60CC9-ECE6-4272-8401-C78676A6B47F}"/>
              </a:ext>
            </a:extLst>
          </p:cNvPr>
          <p:cNvSpPr>
            <a:spLocks noGrp="1"/>
          </p:cNvSpPr>
          <p:nvPr/>
        </p:nvSpPr>
        <p:spPr>
          <a:xfrm>
            <a:off x="7324725" y="44577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Acertos e falhas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991725" y="2324100"/>
            <a:ext cx="1047750" cy="10477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8CBAACE-89D5-429C-8F74-23ED0DA0B350}"/>
              </a:ext>
            </a:extLst>
          </p:cNvPr>
          <p:cNvSpPr>
            <a:spLocks noGrp="1"/>
          </p:cNvSpPr>
          <p:nvPr/>
        </p:nvSpPr>
        <p:spPr>
          <a:xfrm>
            <a:off x="9563100" y="378142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Avaliar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EA905-069D-4DE8-A093-6A719EAF01FE}"/>
              </a:ext>
            </a:extLst>
          </p:cNvPr>
          <p:cNvSpPr>
            <a:spLocks noGrp="1"/>
          </p:cNvSpPr>
          <p:nvPr/>
        </p:nvSpPr>
        <p:spPr>
          <a:xfrm>
            <a:off x="9563100" y="44577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Feedback e relatos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6993F-7308-438D-97EB-4AE8358A194E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Documentação e acompanhamento durante todo o projeto</a:t>
            </a:r>
          </a:p>
        </p:txBody>
      </p:sp>
    </p:spTree>
    <p:extLst>
      <p:ext uri="{BB962C8B-B14F-4D97-AF65-F5344CB8AC3E}">
        <p14:creationId xmlns:p14="http://schemas.microsoft.com/office/powerpoint/2010/main" val="2584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94E1C5-0D40-49C8-9511-CA12DD618CA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2.1  Plano de trabalho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BC2E8D-ADA3-4844-8C62-87A9AEAF6AF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Marcos até novembro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D4249-BD6B-402F-BCDC-6D8EBF28DDA8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7E450A-D511-4484-92FE-58EFFE77B9CF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23/09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788EB0-2561-4D0B-9992-00869F4AA71F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Planejamento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F7F91-DE25-4752-AD85-153162623308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32861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Requisitos e organização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7F80A-D27B-434D-BF36-E88AFEB211E8}"/>
              </a:ext>
            </a:extLst>
          </p:cNvPr>
          <p:cNvSpPr>
            <a:spLocks noGrp="1"/>
          </p:cNvSpPr>
          <p:nvPr/>
        </p:nvSpPr>
        <p:spPr>
          <a:xfrm>
            <a:off x="4371975" y="2428875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28/10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F0A088-663D-4EBE-8CC6-AB4AA0DE3BBA}"/>
              </a:ext>
            </a:extLst>
          </p:cNvPr>
          <p:cNvSpPr>
            <a:spLocks noGrp="1"/>
          </p:cNvSpPr>
          <p:nvPr/>
        </p:nvSpPr>
        <p:spPr>
          <a:xfrm>
            <a:off x="4371975" y="36385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Desenvolvimento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C3A88-9619-40E6-A1A8-6E691DF412C9}"/>
              </a:ext>
            </a:extLst>
          </p:cNvPr>
          <p:cNvSpPr>
            <a:spLocks noGrp="1"/>
          </p:cNvSpPr>
          <p:nvPr/>
        </p:nvSpPr>
        <p:spPr>
          <a:xfrm>
            <a:off x="4371975" y="4429125"/>
            <a:ext cx="32861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Integração e testes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0C3209-6761-486D-9231-526189E2E75A}"/>
              </a:ext>
            </a:extLst>
          </p:cNvPr>
          <p:cNvSpPr>
            <a:spLocks noGrp="1"/>
          </p:cNvSpPr>
          <p:nvPr/>
        </p:nvSpPr>
        <p:spPr>
          <a:xfrm>
            <a:off x="8134350" y="2428875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25/11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C3F45C-C95F-4CBB-B7FD-80B2BB5B3FDA}"/>
              </a:ext>
            </a:extLst>
          </p:cNvPr>
          <p:cNvSpPr>
            <a:spLocks noGrp="1"/>
          </p:cNvSpPr>
          <p:nvPr/>
        </p:nvSpPr>
        <p:spPr>
          <a:xfrm>
            <a:off x="8134350" y="36385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Entrega final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2DA026-0ECB-4638-B320-998FBC62A1F3}"/>
              </a:ext>
            </a:extLst>
          </p:cNvPr>
          <p:cNvSpPr>
            <a:spLocks noGrp="1"/>
          </p:cNvSpPr>
          <p:nvPr/>
        </p:nvSpPr>
        <p:spPr>
          <a:xfrm>
            <a:off x="8134350" y="4429125"/>
            <a:ext cx="32861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Avaliação e relatos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35A3AD-A747-4F2B-80B9-EAE0925AA194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A agenda com a instituição será combinada após o aceite</a:t>
            </a:r>
          </a:p>
        </p:txBody>
      </p:sp>
    </p:spTree>
    <p:extLst>
      <p:ext uri="{BB962C8B-B14F-4D97-AF65-F5344CB8AC3E}">
        <p14:creationId xmlns:p14="http://schemas.microsoft.com/office/powerpoint/2010/main" val="142338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443470E-D568-4E94-AC9C-9B1910BE07D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2.1  Plano de trabalho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05F855-37CA-490B-BD1E-243D0931DBC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C</a:t>
            </a:r>
            <a:r>
              <a:rPr lang="pt-BR" sz="3600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++</a:t>
            </a:r>
            <a:r>
              <a:rPr sz="3600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com ESP-IDF e </a:t>
            </a:r>
            <a:r>
              <a:rPr sz="3600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uma</a:t>
            </a:r>
            <a:r>
              <a:rPr sz="3600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pequena</a:t>
            </a:r>
            <a:r>
              <a:rPr sz="3600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PoC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B233B-9022-480B-BD8B-35516A88D05C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495977"/>
            <a:ext cx="3238500" cy="2732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B5EE44-0CF2-4743-A2E5-9DA14490E04D}"/>
              </a:ext>
            </a:extLst>
          </p:cNvPr>
          <p:cNvSpPr>
            <a:spLocks noGrp="1"/>
          </p:cNvSpPr>
          <p:nvPr/>
        </p:nvSpPr>
        <p:spPr>
          <a:xfrm>
            <a:off x="4419600" y="2171700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EE4A7-11AC-4A85-BBC9-3A72946382BF}"/>
              </a:ext>
            </a:extLst>
          </p:cNvPr>
          <p:cNvSpPr>
            <a:spLocks noGrp="1"/>
          </p:cNvSpPr>
          <p:nvPr/>
        </p:nvSpPr>
        <p:spPr>
          <a:xfrm>
            <a:off x="6334125" y="2171700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Lógica de detecção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89217-387B-4775-BD32-61DF8ABA6806}"/>
              </a:ext>
            </a:extLst>
          </p:cNvPr>
          <p:cNvSpPr>
            <a:spLocks noGrp="1"/>
          </p:cNvSpPr>
          <p:nvPr/>
        </p:nvSpPr>
        <p:spPr>
          <a:xfrm>
            <a:off x="4419600" y="288607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firmware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3522F-625C-415F-A2D1-C74BE45D65AF}"/>
              </a:ext>
            </a:extLst>
          </p:cNvPr>
          <p:cNvSpPr>
            <a:spLocks noGrp="1"/>
          </p:cNvSpPr>
          <p:nvPr/>
        </p:nvSpPr>
        <p:spPr>
          <a:xfrm>
            <a:off x="6334125" y="2886075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Execução no ESP32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8285E5-9EDE-46AA-900D-273737FA514B}"/>
              </a:ext>
            </a:extLst>
          </p:cNvPr>
          <p:cNvSpPr>
            <a:spLocks noGrp="1"/>
          </p:cNvSpPr>
          <p:nvPr/>
        </p:nvSpPr>
        <p:spPr>
          <a:xfrm>
            <a:off x="4419600" y="3600450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simulator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07B1F9-28B1-487B-8C13-8D70163B0267}"/>
              </a:ext>
            </a:extLst>
          </p:cNvPr>
          <p:cNvSpPr>
            <a:spLocks noGrp="1"/>
          </p:cNvSpPr>
          <p:nvPr/>
        </p:nvSpPr>
        <p:spPr>
          <a:xfrm>
            <a:off x="6334125" y="3600450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Circuito e </a:t>
            </a:r>
            <a:r>
              <a:rPr sz="2100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cenários</a:t>
            </a:r>
            <a:endParaRPr sz="2100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9F2B8-0845-4824-8750-CCCFC4DBC690}"/>
              </a:ext>
            </a:extLst>
          </p:cNvPr>
          <p:cNvSpPr>
            <a:spLocks noGrp="1"/>
          </p:cNvSpPr>
          <p:nvPr/>
        </p:nvSpPr>
        <p:spPr>
          <a:xfrm>
            <a:off x="4419600" y="431482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D4A3AC-943A-4780-8842-9753ED36512F}"/>
              </a:ext>
            </a:extLst>
          </p:cNvPr>
          <p:cNvSpPr>
            <a:spLocks noGrp="1"/>
          </p:cNvSpPr>
          <p:nvPr/>
        </p:nvSpPr>
        <p:spPr>
          <a:xfrm>
            <a:off x="6334125" y="4314825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Testes no computador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C67D39-7E92-4975-8BFE-377D7F6E02FD}"/>
              </a:ext>
            </a:extLst>
          </p:cNvPr>
          <p:cNvSpPr>
            <a:spLocks noGrp="1"/>
          </p:cNvSpPr>
          <p:nvPr/>
        </p:nvSpPr>
        <p:spPr>
          <a:xfrm>
            <a:off x="4419600" y="5276850"/>
            <a:ext cx="7029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PoC: cálculo com teste + LED no Wokwi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C1DAA3-3646-45D9-90DD-3FDFDE39DE9D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ESP-IDF: framework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oficial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da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Espressif</a:t>
            </a:r>
            <a:r>
              <a:rPr lang="pt-BR"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para IoT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8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7C99D9-BA89-4B6E-9F28-E6F0525524C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2.2  Envolvimento do público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1728BE-E2F2-4869-9755-6E18FC0D4F2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Quem pensamos em envolver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D006A8-759F-4892-A154-0AF30A7FD6A1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9250" y="2047875"/>
            <a:ext cx="1143000" cy="114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CB56AE-E501-49CD-B8DB-5F6A9E7CC758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Pessoas idosas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AD53DE-8758-4F11-AB45-C10F52C1CCD2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Beneficiárias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81625" y="2047875"/>
            <a:ext cx="1143000" cy="1143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7D2F6B-D4D9-4205-B3B4-35EBC66C2CCA}"/>
              </a:ext>
            </a:extLst>
          </p:cNvPr>
          <p:cNvSpPr>
            <a:spLocks noGrp="1"/>
          </p:cNvSpPr>
          <p:nvPr/>
        </p:nvSpPr>
        <p:spPr>
          <a:xfrm>
            <a:off x="4371975" y="3524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Cuidadores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913EF-149F-4A93-A8CE-197B7C306FAE}"/>
              </a:ext>
            </a:extLst>
          </p:cNvPr>
          <p:cNvSpPr>
            <a:spLocks noGrp="1"/>
          </p:cNvSpPr>
          <p:nvPr/>
        </p:nvSpPr>
        <p:spPr>
          <a:xfrm>
            <a:off x="4371975" y="423862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E familiares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144000" y="2047875"/>
            <a:ext cx="1143000" cy="1143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C3F0D5-1331-4FBF-9D09-5719BA230609}"/>
              </a:ext>
            </a:extLst>
          </p:cNvPr>
          <p:cNvSpPr>
            <a:spLocks noGrp="1"/>
          </p:cNvSpPr>
          <p:nvPr/>
        </p:nvSpPr>
        <p:spPr>
          <a:xfrm>
            <a:off x="8134350" y="3524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Coordenação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715FC0-E564-41EF-9D8E-8A85E6A289AE}"/>
              </a:ext>
            </a:extLst>
          </p:cNvPr>
          <p:cNvSpPr>
            <a:spLocks noGrp="1"/>
          </p:cNvSpPr>
          <p:nvPr/>
        </p:nvSpPr>
        <p:spPr>
          <a:xfrm>
            <a:off x="8134350" y="423862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Porta de entrada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8F1BA5-17CC-422C-B7FB-DF2E40010387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DA65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A6552"/>
                </a:solidFill>
                <a:latin typeface="Arial"/>
                <a:ea typeface="Arial"/>
                <a:cs typeface="Arial"/>
              </a:rPr>
              <a:t>Instituições em prospecção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F62F49-2572-4A0F-A7D4-D523C5463FB1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Casa do Vovô  •  Lar Padre Euclides  •  Lar do Vovô Albano</a:t>
            </a:r>
          </a:p>
        </p:txBody>
      </p:sp>
    </p:spTree>
    <p:extLst>
      <p:ext uri="{BB962C8B-B14F-4D97-AF65-F5344CB8AC3E}">
        <p14:creationId xmlns:p14="http://schemas.microsoft.com/office/powerpoint/2010/main" val="120979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42D3B89-13D7-4B32-ADCD-D59E4888523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2.2  Envolvimento do público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4BEA61-08DB-4859-9C6D-29AF87AD543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Como vamos iniciar o contato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793805-D822-43EB-B9FA-00C0F3DE3628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2D283A-EC35-4A57-B5A9-B39FA3E64776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476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7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6BAD9E-4C1A-4086-AF7A-421E05CD0020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2571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Telefonar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8785C7-13A4-4853-8D51-D8416D9FF407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24574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Apresentar o projeto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2330A3-3FD8-4237-AA6C-3C198EA353AE}"/>
              </a:ext>
            </a:extLst>
          </p:cNvPr>
          <p:cNvSpPr>
            <a:spLocks noGrp="1"/>
          </p:cNvSpPr>
          <p:nvPr/>
        </p:nvSpPr>
        <p:spPr>
          <a:xfrm>
            <a:off x="3438525" y="2266950"/>
            <a:ext cx="2476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7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F68F16-AFB7-4484-A29D-7E1C5F5D933F}"/>
              </a:ext>
            </a:extLst>
          </p:cNvPr>
          <p:cNvSpPr>
            <a:spLocks noGrp="1"/>
          </p:cNvSpPr>
          <p:nvPr/>
        </p:nvSpPr>
        <p:spPr>
          <a:xfrm>
            <a:off x="3438525" y="3648075"/>
            <a:ext cx="2571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Conversar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79E90D-AD7F-4551-AEF3-F0E5000AFF9A}"/>
              </a:ext>
            </a:extLst>
          </p:cNvPr>
          <p:cNvSpPr>
            <a:spLocks noGrp="1"/>
          </p:cNvSpPr>
          <p:nvPr/>
        </p:nvSpPr>
        <p:spPr>
          <a:xfrm>
            <a:off x="3438525" y="4391025"/>
            <a:ext cx="24574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Ouvir a rotina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2A779-50F0-4ECF-BA3A-0A87F3D4A13F}"/>
              </a:ext>
            </a:extLst>
          </p:cNvPr>
          <p:cNvSpPr>
            <a:spLocks noGrp="1"/>
          </p:cNvSpPr>
          <p:nvPr/>
        </p:nvSpPr>
        <p:spPr>
          <a:xfrm>
            <a:off x="6267450" y="2266950"/>
            <a:ext cx="2476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7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7B5A9-480F-4F5F-A6A8-DEA828C91784}"/>
              </a:ext>
            </a:extLst>
          </p:cNvPr>
          <p:cNvSpPr>
            <a:spLocks noGrp="1"/>
          </p:cNvSpPr>
          <p:nvPr/>
        </p:nvSpPr>
        <p:spPr>
          <a:xfrm>
            <a:off x="6267450" y="3648075"/>
            <a:ext cx="2571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Combinar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EF00C3-9EA7-4A6F-B113-B0549AA848A6}"/>
              </a:ext>
            </a:extLst>
          </p:cNvPr>
          <p:cNvSpPr>
            <a:spLocks noGrp="1"/>
          </p:cNvSpPr>
          <p:nvPr/>
        </p:nvSpPr>
        <p:spPr>
          <a:xfrm>
            <a:off x="6267450" y="4391025"/>
            <a:ext cx="24574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Participação e aceite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83688-4023-4F28-A109-31001BECA77C}"/>
              </a:ext>
            </a:extLst>
          </p:cNvPr>
          <p:cNvSpPr>
            <a:spLocks noGrp="1"/>
          </p:cNvSpPr>
          <p:nvPr/>
        </p:nvSpPr>
        <p:spPr>
          <a:xfrm>
            <a:off x="9096375" y="2266950"/>
            <a:ext cx="2476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57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B63F4A-1DD0-4AB5-9C9A-F4B195841996}"/>
              </a:ext>
            </a:extLst>
          </p:cNvPr>
          <p:cNvSpPr>
            <a:spLocks noGrp="1"/>
          </p:cNvSpPr>
          <p:nvPr/>
        </p:nvSpPr>
        <p:spPr>
          <a:xfrm>
            <a:off x="9096375" y="3648075"/>
            <a:ext cx="2571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CEA4DD-8F62-4CF4-8B1C-A757357EC9B6}"/>
              </a:ext>
            </a:extLst>
          </p:cNvPr>
          <p:cNvSpPr>
            <a:spLocks noGrp="1"/>
          </p:cNvSpPr>
          <p:nvPr/>
        </p:nvSpPr>
        <p:spPr>
          <a:xfrm>
            <a:off x="9096375" y="4391025"/>
            <a:ext cx="24574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Validar e avaliar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1C5A68-27DC-49E5-88BB-76097ED5BED5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Registros autorizados e demonstrações com dados simulados</a:t>
            </a:r>
          </a:p>
        </p:txBody>
      </p:sp>
    </p:spTree>
    <p:extLst>
      <p:ext uri="{BB962C8B-B14F-4D97-AF65-F5344CB8AC3E}">
        <p14:creationId xmlns:p14="http://schemas.microsoft.com/office/powerpoint/2010/main" val="172472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13B2D9-0856-457C-9193-030C01EA1BC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2.3  Grupo / Responsabilidades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EB695D-BFB8-482C-ADB2-A2CE9AB2DB5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Frentes de trabalho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C60854-4D99-4BC5-BB74-30615EE61CA1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1699594"/>
            <a:ext cx="1000125" cy="1000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2439DB-4153-4157-B3AE-B5F612248C5F}"/>
              </a:ext>
            </a:extLst>
          </p:cNvPr>
          <p:cNvSpPr>
            <a:spLocks noGrp="1"/>
          </p:cNvSpPr>
          <p:nvPr/>
        </p:nvSpPr>
        <p:spPr>
          <a:xfrm>
            <a:off x="2095500" y="1661494"/>
            <a:ext cx="3810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Gustavo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0EB9E-FD01-45EE-8308-56E0A888C0EF}"/>
              </a:ext>
            </a:extLst>
          </p:cNvPr>
          <p:cNvSpPr>
            <a:spLocks noGrp="1"/>
          </p:cNvSpPr>
          <p:nvPr/>
        </p:nvSpPr>
        <p:spPr>
          <a:xfrm>
            <a:off x="2095500" y="2423494"/>
            <a:ext cx="4095750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Algoritmo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endParaRPr lang="pt-BR" sz="2175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Hardware e </a:t>
            </a:r>
            <a:r>
              <a:rPr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firmware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endParaRPr sz="2175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Simulação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e </a:t>
            </a: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integração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endParaRPr sz="2175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Backend e </a:t>
            </a: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painel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b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</a:br>
            <a:r>
              <a:rPr lang="pt-BR"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DevOps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e Case;</a:t>
            </a:r>
            <a:endParaRPr sz="2175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19875" y="1699594"/>
            <a:ext cx="1000125" cy="1000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B4CD74B-1749-4FAD-9508-8D484ADA8958}"/>
              </a:ext>
            </a:extLst>
          </p:cNvPr>
          <p:cNvSpPr>
            <a:spLocks noGrp="1"/>
          </p:cNvSpPr>
          <p:nvPr/>
        </p:nvSpPr>
        <p:spPr>
          <a:xfrm>
            <a:off x="7905750" y="1661494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DA65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A6552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2F24C-81C8-49F1-91B9-F1DCC060ACED}"/>
              </a:ext>
            </a:extLst>
          </p:cNvPr>
          <p:cNvSpPr>
            <a:spLocks noGrp="1"/>
          </p:cNvSpPr>
          <p:nvPr/>
        </p:nvSpPr>
        <p:spPr>
          <a:xfrm>
            <a:off x="7905749" y="2423494"/>
            <a:ext cx="3766297" cy="220027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lang="en-US" sz="2175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Algoritmo</a:t>
            </a:r>
            <a:r>
              <a:rPr lang="en-US" sz="2175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lang="en-US" sz="2175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Hardware e firmware;</a:t>
            </a:r>
          </a:p>
          <a:p>
            <a:pPr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lang="en-US" sz="2175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Simulação</a:t>
            </a:r>
            <a:r>
              <a:rPr lang="en-US" sz="2175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e </a:t>
            </a:r>
            <a:r>
              <a:rPr lang="en-US" sz="2175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integração</a:t>
            </a:r>
            <a:r>
              <a:rPr lang="en-US" sz="2175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endParaRPr lang="pt-BR" sz="2175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Requisitos</a:t>
            </a:r>
            <a:r>
              <a:rPr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e </a:t>
            </a: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registros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endParaRPr sz="2175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Cronograma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endParaRPr sz="2175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Avaliação</a:t>
            </a:r>
            <a:r>
              <a:rPr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com o </a:t>
            </a:r>
            <a:r>
              <a:rPr sz="2175" b="0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público</a:t>
            </a:r>
            <a:r>
              <a:rPr lang="pt-BR" sz="2175" b="0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;</a:t>
            </a:r>
            <a:endParaRPr sz="2175" b="0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612AA-BBAB-4748-963A-2AAC3465455A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Ambos: contato, testes e revisão das entregas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9EFFF1-D843-44C3-B2A0-0F09DD258E1B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Proposta de divisão para confirmação do grupo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68D8C-41A0-7DCE-3EB5-E2AB74A43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9875" y="2786681"/>
            <a:ext cx="1000125" cy="1000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E583A7-CC48-2064-57F0-69C89B8AC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626" y="2857501"/>
            <a:ext cx="857249" cy="8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AFBAD2-3DD8-418A-BDC2-8088398278E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2.3  Grupo / Responsabilidades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42572B-A0E2-4C8D-A8AE-683BCE5AD2E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GitHub Projects e Kanban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EF4FC-F072-47F0-B213-CD354CDB0AE4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09600" y="2352675"/>
          <a:ext cx="10972800" cy="214312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1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fazer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 andamento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 revisão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Concluído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Definir o teste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Implementar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Conferir o resultado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Registrar evidência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EBDE4DA-190C-4904-A9BA-EEF02D59A4B4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6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Responsável + prazo + critério de conclusão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7337D0-3A7C-4986-BAA7-3A0C6D6FF4E5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Vamos acompanhar o projeto em um quadro Kanban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F08FDE-E598-4424-827F-3C85C88AF032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6"/>
                </a:solidFill>
                <a:latin typeface="Arial"/>
                <a:ea typeface="Arial"/>
                <a:cs typeface="Arial"/>
                <a:hlinkClick r:id="rId3"/>
              </a:rPr>
              <a:t>Abrir quadro do projeto no GitHub ↗</a:t>
            </a:r>
          </a:p>
        </p:txBody>
      </p:sp>
    </p:spTree>
    <p:extLst>
      <p:ext uri="{BB962C8B-B14F-4D97-AF65-F5344CB8AC3E}">
        <p14:creationId xmlns:p14="http://schemas.microsoft.com/office/powerpoint/2010/main" val="139514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F94887-D206-4821-829D-C07C10FA115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2.4  Metas, critérios e indicadores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1FF167-EC86-4A73-BD6B-2C206E09C84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O cálculo acontece no dispositivo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4CF201-1405-4044-B907-C37F749FC86B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5320BF-613A-4470-829E-E24C1EAEA762}"/>
              </a:ext>
            </a:extLst>
          </p:cNvPr>
          <p:cNvSpPr>
            <a:spLocks noGrp="1"/>
          </p:cNvSpPr>
          <p:nvPr/>
        </p:nvSpPr>
        <p:spPr>
          <a:xfrm>
            <a:off x="895350" y="1838325"/>
            <a:ext cx="103822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4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A = √(ax² + ay² + az²)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9EC54D-CE2F-4A40-BA8B-2CF79EC6419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4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ax: eixo X    •    ay: eixo Y    •    az: eixo 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ABDB6-9869-4BD8-B1FD-A78EE00A94EB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Três direções perpendiculares → um valor de aceleração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B92BAC-ABA5-4D24-9ABB-6346C85F932F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286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8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≈ 1 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CC5B11-FB46-4F59-ABFC-CBD155D1078B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32861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Em repouso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37E72C-8EEF-49BC-B3C0-B4ADBFCDC69D}"/>
              </a:ext>
            </a:extLst>
          </p:cNvPr>
          <p:cNvSpPr>
            <a:spLocks noGrp="1"/>
          </p:cNvSpPr>
          <p:nvPr/>
        </p:nvSpPr>
        <p:spPr>
          <a:xfrm>
            <a:off x="4371975" y="4191000"/>
            <a:ext cx="3286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8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Pode cair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E14CF-CD7C-427B-B513-BCB5408F02F0}"/>
              </a:ext>
            </a:extLst>
          </p:cNvPr>
          <p:cNvSpPr>
            <a:spLocks noGrp="1"/>
          </p:cNvSpPr>
          <p:nvPr/>
        </p:nvSpPr>
        <p:spPr>
          <a:xfrm>
            <a:off x="4371975" y="4886325"/>
            <a:ext cx="32861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Durante queda livre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A71B49-8452-441D-9D35-7FA565451399}"/>
              </a:ext>
            </a:extLst>
          </p:cNvPr>
          <p:cNvSpPr>
            <a:spLocks noGrp="1"/>
          </p:cNvSpPr>
          <p:nvPr/>
        </p:nvSpPr>
        <p:spPr>
          <a:xfrm>
            <a:off x="8134350" y="4191000"/>
            <a:ext cx="3286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8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Pode subir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A2EF84-D1DC-4F33-B7CE-D574F418176A}"/>
              </a:ext>
            </a:extLst>
          </p:cNvPr>
          <p:cNvSpPr>
            <a:spLocks noGrp="1"/>
          </p:cNvSpPr>
          <p:nvPr/>
        </p:nvSpPr>
        <p:spPr>
          <a:xfrm>
            <a:off x="8134350" y="4886325"/>
            <a:ext cx="32861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No impacto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579C8-1D2B-42C4-9208-F07EE57299EE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A sequência de movimento importa mais que um valor isolado</a:t>
            </a:r>
          </a:p>
        </p:txBody>
      </p:sp>
    </p:spTree>
    <p:extLst>
      <p:ext uri="{BB962C8B-B14F-4D97-AF65-F5344CB8AC3E}">
        <p14:creationId xmlns:p14="http://schemas.microsoft.com/office/powerpoint/2010/main" val="163594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A38EDD-8406-437E-8FC0-6A001B0526B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2.4  Metas, critérios e indicadores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ACBBD-BEA3-433A-ABA1-FAF1234BF37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Redução de falsos positivos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00E886-D6D3-4CC3-8C97-75EBB4BFC682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52575" y="2286000"/>
            <a:ext cx="1200150" cy="1200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5C2F77-6553-4C31-84C1-A9899A052DDD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47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Sequência no tempo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14950" y="2286000"/>
            <a:ext cx="1200150" cy="12001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00F13E-A658-4646-98CB-EB67EE901A2E}"/>
              </a:ext>
            </a:extLst>
          </p:cNvPr>
          <p:cNvSpPr>
            <a:spLocks noGrp="1"/>
          </p:cNvSpPr>
          <p:nvPr/>
        </p:nvSpPr>
        <p:spPr>
          <a:xfrm>
            <a:off x="4371975" y="3905250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47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Impacto e orientação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77325" y="2286000"/>
            <a:ext cx="1200150" cy="1200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06AD37-63B7-4465-B040-FA2942D9A1A4}"/>
              </a:ext>
            </a:extLst>
          </p:cNvPr>
          <p:cNvSpPr>
            <a:spLocks noGrp="1"/>
          </p:cNvSpPr>
          <p:nvPr/>
        </p:nvSpPr>
        <p:spPr>
          <a:xfrm>
            <a:off x="8134350" y="3905250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47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Movimento posterior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B7DD08-B87C-4C2A-8EF4-081E775C4728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Testar também: caminhar, sentar e deitar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78B97C-D1F6-4D1A-982C-6CBB0B70986B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Reduzir alarmes falsos sem deixar de detectar quedas</a:t>
            </a:r>
          </a:p>
        </p:txBody>
      </p:sp>
    </p:spTree>
    <p:extLst>
      <p:ext uri="{BB962C8B-B14F-4D97-AF65-F5344CB8AC3E}">
        <p14:creationId xmlns:p14="http://schemas.microsoft.com/office/powerpoint/2010/main" val="577325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AC7006-0F88-4797-914B-21ABB7E285D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2.4  Metas, critérios e indicadores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D65FE1-4944-4617-B3BC-0940D793934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Como vamos medir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E35DE7-0D92-4EF8-BFD1-37EB0F9B060F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09600" y="1924050"/>
          <a:ext cx="10972800" cy="352425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Indicador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Meta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Evidência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Quedas detectadas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≥ 90% nos testes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Acertos e falhas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Saída da área segura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Alerta em até 2 min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Tempos no cenário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Avaliação do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Nota ≥ 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Formulário e comentários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Configuração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Menos de 15 min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Tempo e ajuda solicitada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ADE7BF1-4104-452F-93E1-C4853FA7B2EB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Registrar falsos alarmes • Metas ainda sem resultado do sistema completo</a:t>
            </a:r>
          </a:p>
        </p:txBody>
      </p:sp>
    </p:spTree>
    <p:extLst>
      <p:ext uri="{BB962C8B-B14F-4D97-AF65-F5344CB8AC3E}">
        <p14:creationId xmlns:p14="http://schemas.microsoft.com/office/powerpoint/2010/main" val="2112483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ACC6B01-2B1F-454E-B439-46AA51A4021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2.5  Recursos previstos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3867A1-C5D7-40AD-BF38-680174666238}"/>
              </a:ext>
            </a:extLst>
          </p:cNvPr>
          <p:cNvSpPr>
            <a:spLocks noGrp="1"/>
          </p:cNvSpPr>
          <p:nvPr/>
        </p:nvSpPr>
        <p:spPr>
          <a:xfrm>
            <a:off x="609600" y="565892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Hardware </a:t>
            </a:r>
            <a:r>
              <a:rPr sz="3600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pensado</a:t>
            </a:r>
            <a:r>
              <a:rPr sz="3600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para o </a:t>
            </a:r>
            <a:r>
              <a:rPr sz="3600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dispositivo</a:t>
            </a:r>
            <a:endParaRPr sz="3600" b="1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455E93-0373-4872-868D-6CFE546EC91A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630407-8DF9-4037-8F5A-E5FCED26F58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6238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Waveshare ESP32-S3-SIM7670G-4G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AAE24-E3D6-4786-A992-E9E62AA720BA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6238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ESP32-S3: processamento local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77F21-A2C4-4D73-886C-98C8EB1807D9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6238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GNSS + 4G: localização e envio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F832CB-EB81-432B-94ED-A10BFDBE5152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6238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MPU6050: aceleração e rotação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FCA82-C7B5-4863-AD4C-717631C981C0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6238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Botão de ajuda, LED e buzzer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A6CEE-5C93-4EBE-870A-B05194ED8045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6238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Visor touch de 1,69 polegada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F717D8-B65F-48F3-8500-9DBE7253C242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6238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Bateria 18650 + case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78950" y="1326780"/>
            <a:ext cx="6546054" cy="43640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EAE857-2C96-44FD-9771-E557430F92ED}"/>
              </a:ext>
            </a:extLst>
          </p:cNvPr>
          <p:cNvSpPr>
            <a:spLocks noGrp="1"/>
          </p:cNvSpPr>
          <p:nvPr/>
        </p:nvSpPr>
        <p:spPr>
          <a:xfrm>
            <a:off x="8214584" y="5778211"/>
            <a:ext cx="4381500" cy="3463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Ilustração</a:t>
            </a:r>
            <a:r>
              <a:rPr sz="1800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conceitual</a:t>
            </a:r>
            <a:endParaRPr sz="1800" b="0" dirty="0">
              <a:solidFill>
                <a:srgbClr val="566B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BF2A69-4D60-4B48-BF2A-74B54CCDC5C2}"/>
              </a:ext>
            </a:extLst>
          </p:cNvPr>
          <p:cNvSpPr>
            <a:spLocks noGrp="1"/>
          </p:cNvSpPr>
          <p:nvPr/>
        </p:nvSpPr>
        <p:spPr>
          <a:xfrm>
            <a:off x="609600" y="5876924"/>
            <a:ext cx="5286375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Proposta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com visor touch de 1,69″ •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Integração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e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custo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da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tela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a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validar</a:t>
            </a:r>
            <a:endParaRPr sz="1725" b="0" dirty="0">
              <a:solidFill>
                <a:srgbClr val="566B6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396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933C53-C0AA-43BE-BA6A-8D38CCAF3F0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2.5  Recursos previstos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45F93D-441C-403E-82DC-676D75EDBF8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O desafio da placa e do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BBD866-A9B6-4C8A-8381-66ECC778D495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890" y="1462816"/>
            <a:ext cx="7764164" cy="51761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2B8C42-E484-4E4D-BEB7-044A0A5C22DF}"/>
              </a:ext>
            </a:extLst>
          </p:cNvPr>
          <p:cNvSpPr>
            <a:spLocks noGrp="1"/>
          </p:cNvSpPr>
          <p:nvPr/>
        </p:nvSpPr>
        <p:spPr>
          <a:xfrm>
            <a:off x="8401723" y="1506967"/>
            <a:ext cx="3142578" cy="18063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75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Placa + visor touch</a:t>
            </a:r>
          </a:p>
          <a:p>
            <a:pPr algn="l">
              <a:defRPr sz="247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75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Conforto </a:t>
            </a:r>
            <a:r>
              <a:rPr sz="2475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ao</a:t>
            </a:r>
            <a:r>
              <a:rPr sz="2475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</a:t>
            </a:r>
            <a:r>
              <a:rPr sz="2475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dormir</a:t>
            </a:r>
            <a:endParaRPr sz="2475" b="1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47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75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Fixação no </a:t>
            </a:r>
            <a:r>
              <a:rPr sz="2475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corpo</a:t>
            </a:r>
            <a:endParaRPr sz="2475" b="1" dirty="0">
              <a:solidFill>
                <a:srgbClr val="173F43"/>
              </a:solidFill>
              <a:latin typeface="Arial"/>
              <a:ea typeface="Arial"/>
              <a:cs typeface="Arial"/>
            </a:endParaRPr>
          </a:p>
          <a:p>
            <a:pPr algn="l">
              <a:defRPr sz="247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475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Tela e </a:t>
            </a:r>
            <a:r>
              <a:rPr sz="2475" b="1" dirty="0" err="1">
                <a:solidFill>
                  <a:srgbClr val="173F43"/>
                </a:solidFill>
                <a:latin typeface="Arial"/>
                <a:ea typeface="Arial"/>
                <a:cs typeface="Arial"/>
              </a:rPr>
              <a:t>botão</a:t>
            </a:r>
            <a:r>
              <a:rPr sz="2475" b="1" dirty="0">
                <a:solidFill>
                  <a:srgbClr val="173F43"/>
                </a:solidFill>
                <a:latin typeface="Arial"/>
                <a:ea typeface="Arial"/>
                <a:cs typeface="Arial"/>
              </a:rPr>
              <a:t> SOS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7E593-DE1B-4DDC-B5EC-F463041C7BA5}"/>
              </a:ext>
            </a:extLst>
          </p:cNvPr>
          <p:cNvSpPr>
            <a:spLocks noGrp="1"/>
          </p:cNvSpPr>
          <p:nvPr/>
        </p:nvSpPr>
        <p:spPr>
          <a:xfrm>
            <a:off x="8266355" y="5334000"/>
            <a:ext cx="329699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Imagem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conceitual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• Testes de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conforto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dependem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do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protótipo</a:t>
            </a:r>
            <a:r>
              <a:rPr sz="1725" b="0" dirty="0">
                <a:solidFill>
                  <a:srgbClr val="566B6C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566B6C"/>
                </a:solidFill>
                <a:latin typeface="Arial"/>
                <a:ea typeface="Arial"/>
                <a:cs typeface="Arial"/>
              </a:rPr>
              <a:t>físico</a:t>
            </a:r>
            <a:endParaRPr sz="1725" b="0" dirty="0">
              <a:solidFill>
                <a:srgbClr val="566B6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66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956281-496D-423D-8AAD-DA4A7629D60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2.5  Recursos previstos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FB6C3D-53E1-4B31-9E95-77396CE5E66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Por que o Wokwi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622237-C174-49F5-8376-99FC428623B8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247900"/>
            <a:ext cx="1276350" cy="12763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F39FCE-B442-452D-B0A7-5097114DC6CC}"/>
              </a:ext>
            </a:extLst>
          </p:cNvPr>
          <p:cNvSpPr>
            <a:spLocks noGrp="1"/>
          </p:cNvSpPr>
          <p:nvPr/>
        </p:nvSpPr>
        <p:spPr>
          <a:xfrm>
            <a:off x="2590800" y="2162175"/>
            <a:ext cx="8420100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Firmware real</a:t>
            </a:r>
          </a:p>
          <a:p>
            <a:pPr algn="l">
              <a:defRPr sz="31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Cenários repetíveis</a:t>
            </a:r>
          </a:p>
          <a:p>
            <a:pPr algn="l">
              <a:defRPr sz="31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Sem compra de componentes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E09634-F9FA-46F4-8E01-4D57163C91A2}"/>
              </a:ext>
            </a:extLst>
          </p:cNvPr>
          <p:cNvSpPr>
            <a:spLocks noGrp="1"/>
          </p:cNvSpPr>
          <p:nvPr/>
        </p:nvSpPr>
        <p:spPr>
          <a:xfrm>
            <a:off x="2590800" y="4648200"/>
            <a:ext cx="85248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GPS: dados simulados</a:t>
            </a: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Envio: Wi-Fi virtual, sem validar o modem 4G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C99EC-6415-4B1A-9F2A-87FAE9440060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A confirmar com o professor • Bateria e conforto exigem testes físicos</a:t>
            </a:r>
          </a:p>
        </p:txBody>
      </p:sp>
    </p:spTree>
    <p:extLst>
      <p:ext uri="{BB962C8B-B14F-4D97-AF65-F5344CB8AC3E}">
        <p14:creationId xmlns:p14="http://schemas.microsoft.com/office/powerpoint/2010/main" val="78044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5965964-AAD0-4E46-8A34-BD84468C652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2.5  Recursos previstos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59ABC0-23CC-468C-B589-5D15537F60E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Orçamento e alternativa comercial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A976F7-0C8D-4386-B8A5-E6BE6B03ECC2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DF346A-B1B6-4461-8B16-E0D02340FC3F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5524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MeuAmparo • montagem futura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609600" y="2438400"/>
          <a:ext cx="5372100" cy="280035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Hardware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Estimativa</a:t>
                      </a:r>
                    </a:p>
                  </a:txBody>
                  <a:tcPr>
                    <a:solidFill>
                      <a:srgbClr val="007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Placa + frete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R$ 468,89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Sensor MPU6050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R$ 28,10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Bateria 18650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R$ 45–70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Botão, sinais e conexões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R$ 25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Case + cordão / clipe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R$ 30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Visor touch 1,69″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43"/>
                          </a:solidFill>
                          <a:latin typeface="Arial"/>
                          <a:ea typeface="Arial"/>
                          <a:cs typeface="Arial"/>
                        </a:rPr>
                        <a:t>A cotar</a:t>
                      </a:r>
                    </a:p>
                  </a:txBody>
                  <a:tcPr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EE065E3-CD06-47B5-B9AA-36D5B0FF86E3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53721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Base sem tela: R$ 597–622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E67B9-2A39-46CA-A7A6-0919C7FA46C2}"/>
              </a:ext>
            </a:extLst>
          </p:cNvPr>
          <p:cNvSpPr>
            <a:spLocks noGrp="1"/>
          </p:cNvSpPr>
          <p:nvPr/>
        </p:nvSpPr>
        <p:spPr>
          <a:xfrm>
            <a:off x="6477000" y="2009775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Apple Watch SE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0FA910-CA06-472E-9EBA-8592E341F0CB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5143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A partir de R$ 3.299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5DDD48-030F-427F-9D2E-2D58D5FF45D5}"/>
              </a:ext>
            </a:extLst>
          </p:cNvPr>
          <p:cNvSpPr>
            <a:spLocks noGrp="1"/>
          </p:cNvSpPr>
          <p:nvPr/>
        </p:nvSpPr>
        <p:spPr>
          <a:xfrm>
            <a:off x="6477000" y="357187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Referência de relógio inteligente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1779D-5AE1-49BF-AF9A-EC08F52B1864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Produto comercial pronto</a:t>
            </a:r>
          </a:p>
          <a:p>
            <a:pPr algn="l">
              <a:defRPr sz="2175" b="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F43"/>
                </a:solidFill>
                <a:latin typeface="Arial"/>
                <a:ea typeface="Arial"/>
                <a:cs typeface="Arial"/>
              </a:rPr>
              <a:t>Detecção de queda e SOS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F26B47-EC99-44F6-A5DE-11EA4099157D}"/>
              </a:ext>
            </a:extLst>
          </p:cNvPr>
          <p:cNvSpPr>
            <a:spLocks noGrp="1"/>
          </p:cNvSpPr>
          <p:nvPr/>
        </p:nvSpPr>
        <p:spPr>
          <a:xfrm>
            <a:off x="6477000" y="5305425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Envio depende de conectividade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70FAD-5332-4E08-9AB8-ED7CD51A256A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Tela a cotar • Total com touch, dados e hospedagem ainda a definir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3BB55-5201-43EF-A220-D24079F1592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382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Fontes: orçamento do projeto (set/2026) e Apple Brasil (consulta em 16/09/2026).</a:t>
            </a:r>
          </a:p>
        </p:txBody>
      </p:sp>
    </p:spTree>
    <p:extLst>
      <p:ext uri="{BB962C8B-B14F-4D97-AF65-F5344CB8AC3E}">
        <p14:creationId xmlns:p14="http://schemas.microsoft.com/office/powerpoint/2010/main" val="155476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F3FA8-D5BE-4C0E-8AE1-11AAA2B449B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2.5  Recursos previstos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B1A54B-7BDF-49C5-956C-107B0A6AFBE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Projeto aberto: GNU GPL v3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FBDCA-E3BF-4EE6-BA40-04832936B1B1}"/>
              </a:ext>
            </a:extLst>
          </p:cNvPr>
          <p:cNvSpPr>
            <a:spLocks noGrp="1"/>
          </p:cNvSpPr>
          <p:nvPr/>
        </p:nvSpPr>
        <p:spPr>
          <a:xfrm>
            <a:off x="11049000" y="63531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8EE13D-EFA4-46CE-96C0-8407E73D7670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06125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Usar e estudar</a:t>
            </a:r>
          </a:p>
          <a:p>
            <a:pPr algn="l">
              <a:defRPr sz="4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Modificar e compartilhar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DAB763-5A1A-43FA-82A0-52C124683D97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10763250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Manter essas liberdades nas versões derivadas distribuídas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FEE-2A1E-45FE-BD4B-BC301705ABE6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566B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B6C"/>
                </a:solidFill>
                <a:latin typeface="Arial"/>
                <a:ea typeface="Arial"/>
                <a:cs typeface="Arial"/>
              </a:rPr>
              <a:t>Código-fonte disponível • Licenças de terceiros preservadas</a:t>
            </a:r>
          </a:p>
        </p:txBody>
      </p:sp>
    </p:spTree>
    <p:extLst>
      <p:ext uri="{BB962C8B-B14F-4D97-AF65-F5344CB8AC3E}">
        <p14:creationId xmlns:p14="http://schemas.microsoft.com/office/powerpoint/2010/main" val="45182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2799</Words>
  <Application>Microsoft Macintosh PowerPoint</Application>
  <DocSecurity>0</DocSecurity>
  <PresentationFormat>Widescreen</PresentationFormat>
  <Paragraphs>257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Luis Gustavo</cp:lastModifiedBy>
  <cp:revision>2</cp:revision>
  <dcterms:created xsi:type="dcterms:W3CDTF">2026-09-16T23:26:20Z</dcterms:created>
  <dcterms:modified xsi:type="dcterms:W3CDTF">2026-09-16T23:36:57Z</dcterms:modified>
</cp:coreProperties>
</file>